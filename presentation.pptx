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5"/>
    <p:sldMasterId id="214748366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333ED3A-DA1C-4139-8CE9-9066F44B2C3E}">
  <a:tblStyle styleId="{0333ED3A-DA1C-4139-8CE9-9066F44B2C3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c4ac07fa58_2_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g3c4ac07fa58_2_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g3c4ac07fa58_2_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c4ac07fa58_2_1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g3c4ac07fa58_2_1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g3c4ac07fa58_2_1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c4ac07fa58_2_4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g3c4ac07fa58_2_4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g3c4ac07fa58_2_4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c4ac07fa58_2_9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g3c4ac07fa58_2_9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g3c4ac07fa58_2_9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c4ac07fa58_2_13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g3c4ac07fa58_2_13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g3c4ac07fa58_2_13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c4ac07fa58_2_15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g3c4ac07fa58_2_15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g3c4ac07fa58_2_15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c4ac07fa58_2_19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g3c4ac07fa58_2_19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g3c4ac07fa58_2_19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c4ac07fa58_2_23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1" name="Google Shape;291;g3c4ac07fa58_2_23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g3c4ac07fa58_2_23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c4ac07fa58_2_26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7" name="Google Shape;327;g3c4ac07fa58_2_26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g3c4ac07fa58_2_26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243A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6FA8"/>
          </a:solidFill>
          <a:ln cap="flat" cmpd="sng" w="12700">
            <a:solidFill>
              <a:srgbClr val="1A6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5"/>
          <p:cNvSpPr/>
          <p:nvPr/>
        </p:nvSpPr>
        <p:spPr>
          <a:xfrm>
            <a:off x="658368" y="1234440"/>
            <a:ext cx="64008" cy="1463040"/>
          </a:xfrm>
          <a:prstGeom prst="rect">
            <a:avLst/>
          </a:prstGeom>
          <a:solidFill>
            <a:srgbClr val="D94F43"/>
          </a:solidFill>
          <a:ln cap="flat" cmpd="sng" w="12700">
            <a:solidFill>
              <a:srgbClr val="D94F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5"/>
          <p:cNvSpPr/>
          <p:nvPr/>
        </p:nvSpPr>
        <p:spPr>
          <a:xfrm>
            <a:off x="914400" y="1143000"/>
            <a:ext cx="7772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i="0" lang="en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Customer Behavior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5"/>
          <p:cNvSpPr/>
          <p:nvPr/>
        </p:nvSpPr>
        <p:spPr>
          <a:xfrm>
            <a:off x="914400" y="1828800"/>
            <a:ext cx="7772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B8E8"/>
              </a:buClr>
              <a:buSzPts val="4400"/>
              <a:buFont typeface="Calibri"/>
              <a:buNone/>
            </a:pPr>
            <a:r>
              <a:rPr b="1" i="0" lang="en" sz="4400" u="none" cap="none" strike="noStrike">
                <a:solidFill>
                  <a:srgbClr val="5BB8E8"/>
                </a:solidFill>
                <a:latin typeface="Calibri"/>
                <a:ea typeface="Calibri"/>
                <a:cs typeface="Calibri"/>
                <a:sym typeface="Calibri"/>
              </a:rPr>
              <a:t>Intelligence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5"/>
          <p:cNvSpPr/>
          <p:nvPr/>
        </p:nvSpPr>
        <p:spPr>
          <a:xfrm>
            <a:off x="914400" y="2743200"/>
            <a:ext cx="6858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BBD"/>
              </a:buClr>
              <a:buSzPts val="1600"/>
              <a:buFont typeface="Calibri"/>
              <a:buNone/>
            </a:pPr>
            <a:r>
              <a:rPr b="0" i="0" lang="en" sz="1600" u="none" cap="none" strike="noStrike">
                <a:solidFill>
                  <a:srgbClr val="8AABBD"/>
                </a:solidFill>
                <a:latin typeface="Calibri"/>
                <a:ea typeface="Calibri"/>
                <a:cs typeface="Calibri"/>
                <a:sym typeface="Calibri"/>
              </a:rPr>
              <a:t>Predictive Modeling &amp; Customer Segmentation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BBD"/>
              </a:buClr>
              <a:buSzPts val="1600"/>
              <a:buFont typeface="Calibri"/>
              <a:buNone/>
            </a:pPr>
            <a:r>
              <a:rPr b="0" i="0" lang="en" sz="1600" u="none" cap="none" strike="noStrike">
                <a:solidFill>
                  <a:srgbClr val="8AABBD"/>
                </a:solidFill>
                <a:latin typeface="Calibri"/>
                <a:ea typeface="Calibri"/>
                <a:cs typeface="Calibri"/>
                <a:sym typeface="Calibri"/>
              </a:rPr>
              <a:t>on 5 Million Nigerian Banking Transactions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5"/>
          <p:cNvSpPr/>
          <p:nvPr/>
        </p:nvSpPr>
        <p:spPr>
          <a:xfrm>
            <a:off x="0" y="4882896"/>
            <a:ext cx="9144000" cy="260604"/>
          </a:xfrm>
          <a:prstGeom prst="rect">
            <a:avLst/>
          </a:prstGeom>
          <a:solidFill>
            <a:srgbClr val="1A6FA8"/>
          </a:solidFill>
          <a:ln cap="flat" cmpd="sng" w="12700">
            <a:solidFill>
              <a:srgbClr val="1A6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43A"/>
              </a:buClr>
              <a:buSzPts val="3000"/>
              <a:buFont typeface="Calibri"/>
              <a:buNone/>
            </a:pPr>
            <a:r>
              <a:rPr b="1" i="0" lang="en" sz="3000" u="none" cap="none" strike="noStrike">
                <a:solidFill>
                  <a:srgbClr val="12243A"/>
                </a:solidFill>
                <a:latin typeface="Calibri"/>
                <a:ea typeface="Calibri"/>
                <a:cs typeface="Calibri"/>
                <a:sym typeface="Calibri"/>
              </a:rPr>
              <a:t>Dataset at a Glance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6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80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4A6580"/>
                </a:solidFill>
                <a:latin typeface="Calibri"/>
                <a:ea typeface="Calibri"/>
                <a:cs typeface="Calibri"/>
                <a:sym typeface="Calibri"/>
              </a:rPr>
              <a:t>Nigerian banking transactions  ·  Jan 2023 – Dec 2024  ·  15 raw columns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6"/>
          <p:cNvSpPr/>
          <p:nvPr/>
        </p:nvSpPr>
        <p:spPr>
          <a:xfrm>
            <a:off x="429768" y="1188720"/>
            <a:ext cx="1847088" cy="24688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E1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6"/>
          <p:cNvSpPr/>
          <p:nvPr/>
        </p:nvSpPr>
        <p:spPr>
          <a:xfrm>
            <a:off x="429768" y="1188720"/>
            <a:ext cx="1847088" cy="64008"/>
          </a:xfrm>
          <a:prstGeom prst="rect">
            <a:avLst/>
          </a:prstGeom>
          <a:solidFill>
            <a:srgbClr val="1A6FA8"/>
          </a:solidFill>
          <a:ln cap="flat" cmpd="sng" w="12700">
            <a:solidFill>
              <a:srgbClr val="1A6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6"/>
          <p:cNvSpPr/>
          <p:nvPr/>
        </p:nvSpPr>
        <p:spPr>
          <a:xfrm>
            <a:off x="429768" y="1600200"/>
            <a:ext cx="1847088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6FA8"/>
              </a:buClr>
              <a:buSzPts val="4800"/>
              <a:buFont typeface="Calibri"/>
              <a:buNone/>
            </a:pPr>
            <a:r>
              <a:rPr b="1" i="0" lang="en" sz="4800" u="none" cap="none" strike="noStrike">
                <a:solidFill>
                  <a:srgbClr val="1A6FA8"/>
                </a:solidFill>
                <a:latin typeface="Calibri"/>
                <a:ea typeface="Calibri"/>
                <a:cs typeface="Calibri"/>
                <a:sym typeface="Calibri"/>
              </a:rPr>
              <a:t>5M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6"/>
          <p:cNvSpPr/>
          <p:nvPr/>
        </p:nvSpPr>
        <p:spPr>
          <a:xfrm>
            <a:off x="429768" y="2450592"/>
            <a:ext cx="184708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243A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12243A"/>
                </a:solidFill>
                <a:latin typeface="Calibri"/>
                <a:ea typeface="Calibri"/>
                <a:cs typeface="Calibri"/>
                <a:sym typeface="Calibri"/>
              </a:rPr>
              <a:t>Transactions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6"/>
          <p:cNvSpPr/>
          <p:nvPr/>
        </p:nvSpPr>
        <p:spPr>
          <a:xfrm>
            <a:off x="502920" y="2834640"/>
            <a:ext cx="170078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ABBD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8AABBD"/>
                </a:solidFill>
                <a:latin typeface="Calibri"/>
                <a:ea typeface="Calibri"/>
                <a:cs typeface="Calibri"/>
                <a:sym typeface="Calibri"/>
              </a:rPr>
              <a:t>2 years of history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6"/>
          <p:cNvSpPr/>
          <p:nvPr/>
        </p:nvSpPr>
        <p:spPr>
          <a:xfrm>
            <a:off x="2551176" y="1188720"/>
            <a:ext cx="1847088" cy="24688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E1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6"/>
          <p:cNvSpPr/>
          <p:nvPr/>
        </p:nvSpPr>
        <p:spPr>
          <a:xfrm>
            <a:off x="2551176" y="1188720"/>
            <a:ext cx="1847088" cy="64008"/>
          </a:xfrm>
          <a:prstGeom prst="rect">
            <a:avLst/>
          </a:prstGeom>
          <a:solidFill>
            <a:srgbClr val="1C7293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6"/>
          <p:cNvSpPr/>
          <p:nvPr/>
        </p:nvSpPr>
        <p:spPr>
          <a:xfrm>
            <a:off x="2551176" y="1600200"/>
            <a:ext cx="1847088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4800"/>
              <a:buFont typeface="Calibri"/>
              <a:buNone/>
            </a:pPr>
            <a:r>
              <a:rPr b="1" i="0" lang="en" sz="48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100K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6"/>
          <p:cNvSpPr/>
          <p:nvPr/>
        </p:nvSpPr>
        <p:spPr>
          <a:xfrm>
            <a:off x="2551176" y="2450592"/>
            <a:ext cx="184708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243A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12243A"/>
                </a:solidFill>
                <a:latin typeface="Calibri"/>
                <a:ea typeface="Calibri"/>
                <a:cs typeface="Calibri"/>
                <a:sym typeface="Calibri"/>
              </a:rPr>
              <a:t>Customers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6"/>
          <p:cNvSpPr/>
          <p:nvPr/>
        </p:nvSpPr>
        <p:spPr>
          <a:xfrm>
            <a:off x="2624328" y="2834640"/>
            <a:ext cx="170078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ABBD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8AABBD"/>
                </a:solidFill>
                <a:latin typeface="Calibri"/>
                <a:ea typeface="Calibri"/>
                <a:cs typeface="Calibri"/>
                <a:sym typeface="Calibri"/>
              </a:rPr>
              <a:t>100K unique accounts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6"/>
          <p:cNvSpPr/>
          <p:nvPr/>
        </p:nvSpPr>
        <p:spPr>
          <a:xfrm>
            <a:off x="4672584" y="1188720"/>
            <a:ext cx="1847088" cy="24688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E1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6"/>
          <p:cNvSpPr/>
          <p:nvPr/>
        </p:nvSpPr>
        <p:spPr>
          <a:xfrm>
            <a:off x="4672584" y="1188720"/>
            <a:ext cx="1847088" cy="64008"/>
          </a:xfrm>
          <a:prstGeom prst="rect">
            <a:avLst/>
          </a:prstGeom>
          <a:solidFill>
            <a:srgbClr val="2A9B5E"/>
          </a:solidFill>
          <a:ln cap="flat" cmpd="sng" w="12700">
            <a:solidFill>
              <a:srgbClr val="2A9B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6"/>
          <p:cNvSpPr/>
          <p:nvPr/>
        </p:nvSpPr>
        <p:spPr>
          <a:xfrm>
            <a:off x="4672584" y="1600200"/>
            <a:ext cx="1847088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9B5E"/>
              </a:buClr>
              <a:buSzPts val="4800"/>
              <a:buFont typeface="Calibri"/>
              <a:buNone/>
            </a:pPr>
            <a:r>
              <a:rPr b="1" i="0" lang="en" sz="4800" u="none" cap="none" strike="noStrike">
                <a:solidFill>
                  <a:srgbClr val="2A9B5E"/>
                </a:solidFill>
                <a:latin typeface="Calibri"/>
                <a:ea typeface="Calibri"/>
                <a:cs typeface="Calibri"/>
                <a:sym typeface="Calibri"/>
              </a:rPr>
              <a:t>92%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6"/>
          <p:cNvSpPr/>
          <p:nvPr/>
        </p:nvSpPr>
        <p:spPr>
          <a:xfrm>
            <a:off x="4672584" y="2450592"/>
            <a:ext cx="184708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243A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12243A"/>
                </a:solidFill>
                <a:latin typeface="Calibri"/>
                <a:ea typeface="Calibri"/>
                <a:cs typeface="Calibri"/>
                <a:sym typeface="Calibri"/>
              </a:rPr>
              <a:t>Success Rate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6"/>
          <p:cNvSpPr/>
          <p:nvPr/>
        </p:nvSpPr>
        <p:spPr>
          <a:xfrm>
            <a:off x="4745736" y="2834640"/>
            <a:ext cx="170078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ABBD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8AABBD"/>
                </a:solidFill>
                <a:latin typeface="Calibri"/>
                <a:ea typeface="Calibri"/>
                <a:cs typeface="Calibri"/>
                <a:sym typeface="Calibri"/>
              </a:rPr>
              <a:t>7% failed · 1% other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6"/>
          <p:cNvSpPr/>
          <p:nvPr/>
        </p:nvSpPr>
        <p:spPr>
          <a:xfrm>
            <a:off x="6793992" y="1188720"/>
            <a:ext cx="1847088" cy="24688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E1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6"/>
          <p:cNvSpPr/>
          <p:nvPr/>
        </p:nvSpPr>
        <p:spPr>
          <a:xfrm>
            <a:off x="6793992" y="1188720"/>
            <a:ext cx="1847088" cy="64008"/>
          </a:xfrm>
          <a:prstGeom prst="rect">
            <a:avLst/>
          </a:prstGeom>
          <a:solidFill>
            <a:srgbClr val="C47A1E"/>
          </a:solidFill>
          <a:ln cap="flat" cmpd="sng" w="12700">
            <a:solidFill>
              <a:srgbClr val="C47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6"/>
          <p:cNvSpPr/>
          <p:nvPr/>
        </p:nvSpPr>
        <p:spPr>
          <a:xfrm>
            <a:off x="6793992" y="1600200"/>
            <a:ext cx="1847088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47A1E"/>
              </a:buClr>
              <a:buSzPts val="4800"/>
              <a:buFont typeface="Calibri"/>
              <a:buNone/>
            </a:pPr>
            <a:r>
              <a:rPr b="1" i="0" lang="en" sz="4800" u="none" cap="none" strike="noStrike">
                <a:solidFill>
                  <a:srgbClr val="C47A1E"/>
                </a:solidFill>
                <a:latin typeface="Calibri"/>
                <a:ea typeface="Calibri"/>
                <a:cs typeface="Calibri"/>
                <a:sym typeface="Calibri"/>
              </a:rPr>
              <a:t>₦329B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6"/>
          <p:cNvSpPr/>
          <p:nvPr/>
        </p:nvSpPr>
        <p:spPr>
          <a:xfrm>
            <a:off x="6793992" y="2450592"/>
            <a:ext cx="184708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243A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12243A"/>
                </a:solidFill>
                <a:latin typeface="Calibri"/>
                <a:ea typeface="Calibri"/>
                <a:cs typeface="Calibri"/>
                <a:sym typeface="Calibri"/>
              </a:rPr>
              <a:t>Total Volume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6"/>
          <p:cNvSpPr/>
          <p:nvPr/>
        </p:nvSpPr>
        <p:spPr>
          <a:xfrm>
            <a:off x="6867144" y="2834640"/>
            <a:ext cx="170078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ABBD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8AABBD"/>
                </a:solidFill>
                <a:latin typeface="Calibri"/>
                <a:ea typeface="Calibri"/>
                <a:cs typeface="Calibri"/>
                <a:sym typeface="Calibri"/>
              </a:rPr>
              <a:t>₦65.6K mean per txn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6"/>
          <p:cNvSpPr/>
          <p:nvPr/>
        </p:nvSpPr>
        <p:spPr>
          <a:xfrm>
            <a:off x="429768" y="3913632"/>
            <a:ext cx="8321040" cy="877824"/>
          </a:xfrm>
          <a:prstGeom prst="rect">
            <a:avLst/>
          </a:prstGeom>
          <a:solidFill>
            <a:srgbClr val="DFF0FF"/>
          </a:solidFill>
          <a:ln cap="flat" cmpd="sng" w="12700">
            <a:solidFill>
              <a:srgbClr val="BDD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6"/>
          <p:cNvSpPr/>
          <p:nvPr/>
        </p:nvSpPr>
        <p:spPr>
          <a:xfrm>
            <a:off x="429768" y="3913632"/>
            <a:ext cx="8321040" cy="877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6FA8"/>
              </a:buClr>
              <a:buSzPts val="1250"/>
              <a:buFont typeface="Calibri"/>
              <a:buNone/>
            </a:pPr>
            <a:r>
              <a:rPr b="0" i="0" lang="en" sz="1250" u="none" cap="none" strike="noStrike">
                <a:solidFill>
                  <a:srgbClr val="1A6FA8"/>
                </a:solidFill>
                <a:latin typeface="Calibri"/>
                <a:ea typeface="Calibri"/>
                <a:cs typeface="Calibri"/>
                <a:sym typeface="Calibri"/>
              </a:rPr>
              <a:t>Channel Mix:  Mobile 35%  ·  POS 30%  ·  ATM 20%  ·  Web 10%  ·  Branch 3%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6FA8"/>
              </a:buClr>
              <a:buSzPts val="1250"/>
              <a:buFont typeface="Calibri"/>
              <a:buNone/>
            </a:pPr>
            <a:r>
              <a:rPr b="0" i="0" lang="en" sz="1250" u="none" cap="none" strike="noStrike">
                <a:solidFill>
                  <a:srgbClr val="1A6FA8"/>
                </a:solidFill>
                <a:latin typeface="Calibri"/>
                <a:ea typeface="Calibri"/>
                <a:cs typeface="Calibri"/>
                <a:sym typeface="Calibri"/>
              </a:rPr>
              <a:t>Geography:  Lagos 24.5%  ·  Abuja 10.9%  ·  Rivers 8.9%  ·  37 unique states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7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43A"/>
              </a:buClr>
              <a:buSzPts val="2800"/>
              <a:buFont typeface="Calibri"/>
              <a:buNone/>
            </a:pPr>
            <a:r>
              <a:rPr b="1" i="0" lang="en" sz="2800" u="none" cap="none" strike="noStrike">
                <a:solidFill>
                  <a:srgbClr val="12243A"/>
                </a:solidFill>
                <a:latin typeface="Calibri"/>
                <a:ea typeface="Calibri"/>
                <a:cs typeface="Calibri"/>
                <a:sym typeface="Calibri"/>
              </a:rPr>
              <a:t>Data Cleaning &amp; Exploratory Analysis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7"/>
          <p:cNvSpPr/>
          <p:nvPr/>
        </p:nvSpPr>
        <p:spPr>
          <a:xfrm>
            <a:off x="457200" y="822960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A8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1A6FA8"/>
                </a:solidFill>
                <a:latin typeface="Calibri"/>
                <a:ea typeface="Calibri"/>
                <a:cs typeface="Calibri"/>
                <a:sym typeface="Calibri"/>
              </a:rPr>
              <a:t>10-Step Cleaning Pipeline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7"/>
          <p:cNvSpPr/>
          <p:nvPr/>
        </p:nvSpPr>
        <p:spPr>
          <a:xfrm>
            <a:off x="457200" y="1252728"/>
            <a:ext cx="246888" cy="246888"/>
          </a:xfrm>
          <a:prstGeom prst="ellipse">
            <a:avLst/>
          </a:prstGeom>
          <a:solidFill>
            <a:srgbClr val="1A6FA8"/>
          </a:solidFill>
          <a:ln cap="flat" cmpd="sng" w="12700">
            <a:solidFill>
              <a:srgbClr val="1A6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7"/>
          <p:cNvSpPr/>
          <p:nvPr/>
        </p:nvSpPr>
        <p:spPr>
          <a:xfrm>
            <a:off x="457200" y="1252728"/>
            <a:ext cx="24688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7"/>
          <p:cNvSpPr/>
          <p:nvPr/>
        </p:nvSpPr>
        <p:spPr>
          <a:xfrm>
            <a:off x="795528" y="1216152"/>
            <a:ext cx="3611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43A"/>
              </a:buClr>
              <a:buSzPts val="1150"/>
              <a:buFont typeface="Calibri"/>
              <a:buNone/>
            </a:pPr>
            <a:r>
              <a:rPr b="0" i="0" lang="en" sz="1150" u="none" cap="none" strike="noStrike">
                <a:solidFill>
                  <a:srgbClr val="12243A"/>
                </a:solidFill>
                <a:latin typeface="Calibri"/>
                <a:ea typeface="Calibri"/>
                <a:cs typeface="Calibri"/>
                <a:sym typeface="Calibri"/>
              </a:rPr>
              <a:t>Remove duplicate rows &amp; transaction IDs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7"/>
          <p:cNvSpPr/>
          <p:nvPr/>
        </p:nvSpPr>
        <p:spPr>
          <a:xfrm>
            <a:off x="457200" y="1600200"/>
            <a:ext cx="246888" cy="246888"/>
          </a:xfrm>
          <a:prstGeom prst="ellipse">
            <a:avLst/>
          </a:prstGeom>
          <a:solidFill>
            <a:srgbClr val="1A6FA8"/>
          </a:solidFill>
          <a:ln cap="flat" cmpd="sng" w="12700">
            <a:solidFill>
              <a:srgbClr val="1A6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7"/>
          <p:cNvSpPr/>
          <p:nvPr/>
        </p:nvSpPr>
        <p:spPr>
          <a:xfrm>
            <a:off x="457200" y="1600200"/>
            <a:ext cx="24688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7"/>
          <p:cNvSpPr/>
          <p:nvPr/>
        </p:nvSpPr>
        <p:spPr>
          <a:xfrm>
            <a:off x="795528" y="1563624"/>
            <a:ext cx="3611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43A"/>
              </a:buClr>
              <a:buSzPts val="1150"/>
              <a:buFont typeface="Calibri"/>
              <a:buNone/>
            </a:pPr>
            <a:r>
              <a:rPr b="0" i="0" lang="en" sz="1150" u="none" cap="none" strike="noStrike">
                <a:solidFill>
                  <a:srgbClr val="12243A"/>
                </a:solidFill>
                <a:latin typeface="Calibri"/>
                <a:ea typeface="Calibri"/>
                <a:cs typeface="Calibri"/>
                <a:sym typeface="Calibri"/>
              </a:rPr>
              <a:t>Validate timestamps — all 5M valid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7"/>
          <p:cNvSpPr/>
          <p:nvPr/>
        </p:nvSpPr>
        <p:spPr>
          <a:xfrm>
            <a:off x="457200" y="1947672"/>
            <a:ext cx="246888" cy="246888"/>
          </a:xfrm>
          <a:prstGeom prst="ellipse">
            <a:avLst/>
          </a:prstGeom>
          <a:solidFill>
            <a:srgbClr val="1A6FA8"/>
          </a:solidFill>
          <a:ln cap="flat" cmpd="sng" w="12700">
            <a:solidFill>
              <a:srgbClr val="1A6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7"/>
          <p:cNvSpPr/>
          <p:nvPr/>
        </p:nvSpPr>
        <p:spPr>
          <a:xfrm>
            <a:off x="457200" y="1947672"/>
            <a:ext cx="24688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7"/>
          <p:cNvSpPr/>
          <p:nvPr/>
        </p:nvSpPr>
        <p:spPr>
          <a:xfrm>
            <a:off x="795528" y="1911096"/>
            <a:ext cx="3611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43A"/>
              </a:buClr>
              <a:buSzPts val="1150"/>
              <a:buFont typeface="Calibri"/>
              <a:buNone/>
            </a:pPr>
            <a:r>
              <a:rPr b="0" i="0" lang="en" sz="1150" u="none" cap="none" strike="noStrike">
                <a:solidFill>
                  <a:srgbClr val="12243A"/>
                </a:solidFill>
                <a:latin typeface="Calibri"/>
                <a:ea typeface="Calibri"/>
                <a:cs typeface="Calibri"/>
                <a:sym typeface="Calibri"/>
              </a:rPr>
              <a:t>Validate amounts — no negatives or zeros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7"/>
          <p:cNvSpPr/>
          <p:nvPr/>
        </p:nvSpPr>
        <p:spPr>
          <a:xfrm>
            <a:off x="457200" y="2295144"/>
            <a:ext cx="246888" cy="246888"/>
          </a:xfrm>
          <a:prstGeom prst="ellipse">
            <a:avLst/>
          </a:prstGeom>
          <a:solidFill>
            <a:srgbClr val="1A6FA8"/>
          </a:solidFill>
          <a:ln cap="flat" cmpd="sng" w="12700">
            <a:solidFill>
              <a:srgbClr val="1A6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7"/>
          <p:cNvSpPr/>
          <p:nvPr/>
        </p:nvSpPr>
        <p:spPr>
          <a:xfrm>
            <a:off x="457200" y="2295144"/>
            <a:ext cx="24688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7"/>
          <p:cNvSpPr/>
          <p:nvPr/>
        </p:nvSpPr>
        <p:spPr>
          <a:xfrm>
            <a:off x="795528" y="2258568"/>
            <a:ext cx="3611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43A"/>
              </a:buClr>
              <a:buSzPts val="1150"/>
              <a:buFont typeface="Calibri"/>
              <a:buNone/>
            </a:pPr>
            <a:r>
              <a:rPr b="0" i="0" lang="en" sz="1150" u="none" cap="none" strike="noStrike">
                <a:solidFill>
                  <a:srgbClr val="12243A"/>
                </a:solidFill>
                <a:latin typeface="Calibri"/>
                <a:ea typeface="Calibri"/>
                <a:cs typeface="Calibri"/>
                <a:sym typeface="Calibri"/>
              </a:rPr>
              <a:t>Flag balance inconsistencies (6.93% of rows)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7"/>
          <p:cNvSpPr/>
          <p:nvPr/>
        </p:nvSpPr>
        <p:spPr>
          <a:xfrm>
            <a:off x="457200" y="2642616"/>
            <a:ext cx="246888" cy="246888"/>
          </a:xfrm>
          <a:prstGeom prst="ellipse">
            <a:avLst/>
          </a:prstGeom>
          <a:solidFill>
            <a:srgbClr val="1A6FA8"/>
          </a:solidFill>
          <a:ln cap="flat" cmpd="sng" w="12700">
            <a:solidFill>
              <a:srgbClr val="1A6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7"/>
          <p:cNvSpPr/>
          <p:nvPr/>
        </p:nvSpPr>
        <p:spPr>
          <a:xfrm>
            <a:off x="457200" y="2642616"/>
            <a:ext cx="24688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7"/>
          <p:cNvSpPr/>
          <p:nvPr/>
        </p:nvSpPr>
        <p:spPr>
          <a:xfrm>
            <a:off x="795528" y="2606040"/>
            <a:ext cx="3611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43A"/>
              </a:buClr>
              <a:buSzPts val="1150"/>
              <a:buFont typeface="Calibri"/>
              <a:buNone/>
            </a:pPr>
            <a:r>
              <a:rPr b="0" i="0" lang="en" sz="1150" u="none" cap="none" strike="noStrike">
                <a:solidFill>
                  <a:srgbClr val="12243A"/>
                </a:solidFill>
                <a:latin typeface="Calibri"/>
                <a:ea typeface="Calibri"/>
                <a:cs typeface="Calibri"/>
                <a:sym typeface="Calibri"/>
              </a:rPr>
              <a:t>Standardise categoricals (lowercase, strip)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7"/>
          <p:cNvSpPr/>
          <p:nvPr/>
        </p:nvSpPr>
        <p:spPr>
          <a:xfrm>
            <a:off x="457200" y="2990088"/>
            <a:ext cx="246888" cy="246888"/>
          </a:xfrm>
          <a:prstGeom prst="ellipse">
            <a:avLst/>
          </a:prstGeom>
          <a:solidFill>
            <a:srgbClr val="1A6FA8"/>
          </a:solidFill>
          <a:ln cap="flat" cmpd="sng" w="12700">
            <a:solidFill>
              <a:srgbClr val="1A6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7"/>
          <p:cNvSpPr/>
          <p:nvPr/>
        </p:nvSpPr>
        <p:spPr>
          <a:xfrm>
            <a:off x="457200" y="2990088"/>
            <a:ext cx="24688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7"/>
          <p:cNvSpPr/>
          <p:nvPr/>
        </p:nvSpPr>
        <p:spPr>
          <a:xfrm>
            <a:off x="795528" y="2953512"/>
            <a:ext cx="3611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43A"/>
              </a:buClr>
              <a:buSzPts val="1150"/>
              <a:buFont typeface="Calibri"/>
              <a:buNone/>
            </a:pPr>
            <a:r>
              <a:rPr b="0" i="0" lang="en" sz="1150" u="none" cap="none" strike="noStrike">
                <a:solidFill>
                  <a:srgbClr val="12243A"/>
                </a:solidFill>
                <a:latin typeface="Calibri"/>
                <a:ea typeface="Calibri"/>
                <a:cs typeface="Calibri"/>
                <a:sym typeface="Calibri"/>
              </a:rPr>
              <a:t>Fill merchant nulls (60%) &amp; device nulls (55%)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7"/>
          <p:cNvSpPr/>
          <p:nvPr/>
        </p:nvSpPr>
        <p:spPr>
          <a:xfrm>
            <a:off x="457200" y="3337560"/>
            <a:ext cx="246888" cy="246888"/>
          </a:xfrm>
          <a:prstGeom prst="ellipse">
            <a:avLst/>
          </a:prstGeom>
          <a:solidFill>
            <a:srgbClr val="1A6FA8"/>
          </a:solidFill>
          <a:ln cap="flat" cmpd="sng" w="12700">
            <a:solidFill>
              <a:srgbClr val="1A6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7"/>
          <p:cNvSpPr/>
          <p:nvPr/>
        </p:nvSpPr>
        <p:spPr>
          <a:xfrm>
            <a:off x="457200" y="3337560"/>
            <a:ext cx="24688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7"/>
          <p:cNvSpPr/>
          <p:nvPr/>
        </p:nvSpPr>
        <p:spPr>
          <a:xfrm>
            <a:off x="795528" y="3300984"/>
            <a:ext cx="3611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43A"/>
              </a:buClr>
              <a:buSzPts val="1150"/>
              <a:buFont typeface="Calibri"/>
              <a:buNone/>
            </a:pPr>
            <a:r>
              <a:rPr b="0" i="0" lang="en" sz="1150" u="none" cap="none" strike="noStrike">
                <a:solidFill>
                  <a:srgbClr val="12243A"/>
                </a:solidFill>
                <a:latin typeface="Calibri"/>
                <a:ea typeface="Calibri"/>
                <a:cs typeface="Calibri"/>
                <a:sym typeface="Calibri"/>
              </a:rPr>
              <a:t>Extract time features: hour, DOW, weekend flag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7"/>
          <p:cNvSpPr/>
          <p:nvPr/>
        </p:nvSpPr>
        <p:spPr>
          <a:xfrm>
            <a:off x="457200" y="3685032"/>
            <a:ext cx="246888" cy="246888"/>
          </a:xfrm>
          <a:prstGeom prst="ellipse">
            <a:avLst/>
          </a:prstGeom>
          <a:solidFill>
            <a:srgbClr val="1A6FA8"/>
          </a:solidFill>
          <a:ln cap="flat" cmpd="sng" w="12700">
            <a:solidFill>
              <a:srgbClr val="1A6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7"/>
          <p:cNvSpPr/>
          <p:nvPr/>
        </p:nvSpPr>
        <p:spPr>
          <a:xfrm>
            <a:off x="457200" y="3685032"/>
            <a:ext cx="24688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7"/>
          <p:cNvSpPr/>
          <p:nvPr/>
        </p:nvSpPr>
        <p:spPr>
          <a:xfrm>
            <a:off x="795528" y="3648456"/>
            <a:ext cx="3611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43A"/>
              </a:buClr>
              <a:buSzPts val="1150"/>
              <a:buFont typeface="Calibri"/>
              <a:buNone/>
            </a:pPr>
            <a:r>
              <a:rPr b="0" i="0" lang="en" sz="1150" u="none" cap="none" strike="noStrike">
                <a:solidFill>
                  <a:srgbClr val="12243A"/>
                </a:solidFill>
                <a:latin typeface="Calibri"/>
                <a:ea typeface="Calibri"/>
                <a:cs typeface="Calibri"/>
                <a:sym typeface="Calibri"/>
              </a:rPr>
              <a:t>Flag amount outliers via 3× IQR fence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7"/>
          <p:cNvSpPr/>
          <p:nvPr/>
        </p:nvSpPr>
        <p:spPr>
          <a:xfrm>
            <a:off x="4645152" y="804672"/>
            <a:ext cx="4251960" cy="413308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E1EE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7"/>
          <p:cNvSpPr/>
          <p:nvPr/>
        </p:nvSpPr>
        <p:spPr>
          <a:xfrm>
            <a:off x="4773168" y="877824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A8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1A6FA8"/>
                </a:solidFill>
                <a:latin typeface="Calibri"/>
                <a:ea typeface="Calibri"/>
                <a:cs typeface="Calibri"/>
                <a:sym typeface="Calibri"/>
              </a:rPr>
              <a:t>Key EDA Findings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7"/>
          <p:cNvSpPr/>
          <p:nvPr/>
        </p:nvSpPr>
        <p:spPr>
          <a:xfrm>
            <a:off x="4773168" y="1325880"/>
            <a:ext cx="3977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43A"/>
              </a:buClr>
              <a:buSzPts val="1050"/>
              <a:buFont typeface="Calibri"/>
              <a:buNone/>
            </a:pPr>
            <a:r>
              <a:rPr b="1" i="0" lang="en" sz="1050" u="none" cap="none" strike="noStrike">
                <a:solidFill>
                  <a:srgbClr val="12243A"/>
                </a:solidFill>
                <a:latin typeface="Calibri"/>
                <a:ea typeface="Calibri"/>
                <a:cs typeface="Calibri"/>
                <a:sym typeface="Calibri"/>
              </a:rPr>
              <a:t>Monthly Volume: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7"/>
          <p:cNvSpPr/>
          <p:nvPr/>
        </p:nvSpPr>
        <p:spPr>
          <a:xfrm>
            <a:off x="4773168" y="1527048"/>
            <a:ext cx="3977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80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4A6580"/>
                </a:solidFill>
                <a:latin typeface="Calibri"/>
                <a:ea typeface="Calibri"/>
                <a:cs typeface="Calibri"/>
                <a:sym typeface="Calibri"/>
              </a:rPr>
              <a:t>~208K transactions/month (steady 2023–24)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7"/>
          <p:cNvSpPr/>
          <p:nvPr/>
        </p:nvSpPr>
        <p:spPr>
          <a:xfrm>
            <a:off x="4773168" y="1755648"/>
            <a:ext cx="3977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43A"/>
              </a:buClr>
              <a:buSzPts val="1050"/>
              <a:buFont typeface="Calibri"/>
              <a:buNone/>
            </a:pPr>
            <a:r>
              <a:rPr b="1" i="0" lang="en" sz="1050" u="none" cap="none" strike="noStrike">
                <a:solidFill>
                  <a:srgbClr val="12243A"/>
                </a:solidFill>
                <a:latin typeface="Calibri"/>
                <a:ea typeface="Calibri"/>
                <a:cs typeface="Calibri"/>
                <a:sym typeface="Calibri"/>
              </a:rPr>
              <a:t>Peak Hour: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7"/>
          <p:cNvSpPr/>
          <p:nvPr/>
        </p:nvSpPr>
        <p:spPr>
          <a:xfrm>
            <a:off x="4773168" y="1956816"/>
            <a:ext cx="3977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80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4A6580"/>
                </a:solidFill>
                <a:latin typeface="Calibri"/>
                <a:ea typeface="Calibri"/>
                <a:cs typeface="Calibri"/>
                <a:sym typeface="Calibri"/>
              </a:rPr>
              <a:t>2 – 4 PM daily · Weekdays dominate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7"/>
          <p:cNvSpPr/>
          <p:nvPr/>
        </p:nvSpPr>
        <p:spPr>
          <a:xfrm>
            <a:off x="4773168" y="2185416"/>
            <a:ext cx="3977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43A"/>
              </a:buClr>
              <a:buSzPts val="1050"/>
              <a:buFont typeface="Calibri"/>
              <a:buNone/>
            </a:pPr>
            <a:r>
              <a:rPr b="1" i="0" lang="en" sz="1050" u="none" cap="none" strike="noStrike">
                <a:solidFill>
                  <a:srgbClr val="12243A"/>
                </a:solidFill>
                <a:latin typeface="Calibri"/>
                <a:ea typeface="Calibri"/>
                <a:cs typeface="Calibri"/>
                <a:sym typeface="Calibri"/>
              </a:rPr>
              <a:t>Top Channel: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7"/>
          <p:cNvSpPr/>
          <p:nvPr/>
        </p:nvSpPr>
        <p:spPr>
          <a:xfrm>
            <a:off x="4773168" y="2386584"/>
            <a:ext cx="3977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80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4A6580"/>
                </a:solidFill>
                <a:latin typeface="Calibri"/>
                <a:ea typeface="Calibri"/>
                <a:cs typeface="Calibri"/>
                <a:sym typeface="Calibri"/>
              </a:rPr>
              <a:t>Mobile 35%  ·  POS 30%  ·  ATM 20%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7"/>
          <p:cNvSpPr/>
          <p:nvPr/>
        </p:nvSpPr>
        <p:spPr>
          <a:xfrm>
            <a:off x="4773168" y="2615184"/>
            <a:ext cx="3977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43A"/>
              </a:buClr>
              <a:buSzPts val="1050"/>
              <a:buFont typeface="Calibri"/>
              <a:buNone/>
            </a:pPr>
            <a:r>
              <a:rPr b="1" i="0" lang="en" sz="1050" u="none" cap="none" strike="noStrike">
                <a:solidFill>
                  <a:srgbClr val="12243A"/>
                </a:solidFill>
                <a:latin typeface="Calibri"/>
                <a:ea typeface="Calibri"/>
                <a:cs typeface="Calibri"/>
                <a:sym typeface="Calibri"/>
              </a:rPr>
              <a:t>Geographic Hub: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7"/>
          <p:cNvSpPr/>
          <p:nvPr/>
        </p:nvSpPr>
        <p:spPr>
          <a:xfrm>
            <a:off x="4773168" y="2816352"/>
            <a:ext cx="3977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80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4A6580"/>
                </a:solidFill>
                <a:latin typeface="Calibri"/>
                <a:ea typeface="Calibri"/>
                <a:cs typeface="Calibri"/>
                <a:sym typeface="Calibri"/>
              </a:rPr>
              <a:t>Lagos 24.5%  ·  Abuja 10.9%  ·  Rivers 8.9%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7"/>
          <p:cNvSpPr/>
          <p:nvPr/>
        </p:nvSpPr>
        <p:spPr>
          <a:xfrm>
            <a:off x="4773168" y="3044952"/>
            <a:ext cx="3977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43A"/>
              </a:buClr>
              <a:buSzPts val="1050"/>
              <a:buFont typeface="Calibri"/>
              <a:buNone/>
            </a:pPr>
            <a:r>
              <a:rPr b="1" i="0" lang="en" sz="1050" u="none" cap="none" strike="noStrike">
                <a:solidFill>
                  <a:srgbClr val="12243A"/>
                </a:solidFill>
                <a:latin typeface="Calibri"/>
                <a:ea typeface="Calibri"/>
                <a:cs typeface="Calibri"/>
                <a:sym typeface="Calibri"/>
              </a:rPr>
              <a:t>Balance Consistency: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7"/>
          <p:cNvSpPr/>
          <p:nvPr/>
        </p:nvSpPr>
        <p:spPr>
          <a:xfrm>
            <a:off x="4773168" y="3246120"/>
            <a:ext cx="3977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80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4A6580"/>
                </a:solidFill>
                <a:latin typeface="Calibri"/>
                <a:ea typeface="Calibri"/>
                <a:cs typeface="Calibri"/>
                <a:sym typeface="Calibri"/>
              </a:rPr>
              <a:t>89.3% debit OK  ·  100% credit OK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7"/>
          <p:cNvSpPr/>
          <p:nvPr/>
        </p:nvSpPr>
        <p:spPr>
          <a:xfrm>
            <a:off x="4773168" y="3474720"/>
            <a:ext cx="3977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43A"/>
              </a:buClr>
              <a:buSzPts val="1050"/>
              <a:buFont typeface="Calibri"/>
              <a:buNone/>
            </a:pPr>
            <a:r>
              <a:rPr b="1" i="0" lang="en" sz="1050" u="none" cap="none" strike="noStrike">
                <a:solidFill>
                  <a:srgbClr val="12243A"/>
                </a:solidFill>
                <a:latin typeface="Calibri"/>
                <a:ea typeface="Calibri"/>
                <a:cs typeface="Calibri"/>
                <a:sym typeface="Calibri"/>
              </a:rPr>
              <a:t>Amount Profile: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7"/>
          <p:cNvSpPr/>
          <p:nvPr/>
        </p:nvSpPr>
        <p:spPr>
          <a:xfrm>
            <a:off x="4773168" y="3675888"/>
            <a:ext cx="3977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80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4A6580"/>
                </a:solidFill>
                <a:latin typeface="Calibri"/>
                <a:ea typeface="Calibri"/>
                <a:cs typeface="Calibri"/>
                <a:sym typeface="Calibri"/>
              </a:rPr>
              <a:t>Median ₦13,300  ·  Mean ₦65,622  ·  Max ₦5M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7"/>
          <p:cNvSpPr/>
          <p:nvPr/>
        </p:nvSpPr>
        <p:spPr>
          <a:xfrm>
            <a:off x="4773168" y="3904488"/>
            <a:ext cx="3977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43A"/>
              </a:buClr>
              <a:buSzPts val="1050"/>
              <a:buFont typeface="Calibri"/>
              <a:buNone/>
            </a:pPr>
            <a:r>
              <a:rPr b="1" i="0" lang="en" sz="1050" u="none" cap="none" strike="noStrike">
                <a:solidFill>
                  <a:srgbClr val="12243A"/>
                </a:solidFill>
                <a:latin typeface="Calibri"/>
                <a:ea typeface="Calibri"/>
                <a:cs typeface="Calibri"/>
                <a:sym typeface="Calibri"/>
              </a:rPr>
              <a:t>Outliers Flagged: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7"/>
          <p:cNvSpPr/>
          <p:nvPr/>
        </p:nvSpPr>
        <p:spPr>
          <a:xfrm>
            <a:off x="4773168" y="4105656"/>
            <a:ext cx="3977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80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4A6580"/>
                </a:solidFill>
                <a:latin typeface="Calibri"/>
                <a:ea typeface="Calibri"/>
                <a:cs typeface="Calibri"/>
                <a:sym typeface="Calibri"/>
              </a:rPr>
              <a:t>398,964 transactions above 3× IQR fence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7"/>
          <p:cNvSpPr/>
          <p:nvPr/>
        </p:nvSpPr>
        <p:spPr>
          <a:xfrm>
            <a:off x="4773168" y="4334256"/>
            <a:ext cx="3977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43A"/>
              </a:buClr>
              <a:buSzPts val="1050"/>
              <a:buFont typeface="Calibri"/>
              <a:buNone/>
            </a:pPr>
            <a:r>
              <a:rPr b="1" i="0" lang="en" sz="1050" u="none" cap="none" strike="noStrike">
                <a:solidFill>
                  <a:srgbClr val="12243A"/>
                </a:solidFill>
                <a:latin typeface="Calibri"/>
                <a:ea typeface="Calibri"/>
                <a:cs typeface="Calibri"/>
                <a:sym typeface="Calibri"/>
              </a:rPr>
              <a:t>Failed Transactions: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7"/>
          <p:cNvSpPr/>
          <p:nvPr/>
        </p:nvSpPr>
        <p:spPr>
          <a:xfrm>
            <a:off x="4773168" y="4535424"/>
            <a:ext cx="3977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80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4A6580"/>
                </a:solidFill>
                <a:latin typeface="Calibri"/>
                <a:ea typeface="Calibri"/>
                <a:cs typeface="Calibri"/>
                <a:sym typeface="Calibri"/>
              </a:rPr>
              <a:t>Agent banking has highest failure rate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8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43A"/>
              </a:buClr>
              <a:buSzPts val="2700"/>
              <a:buFont typeface="Calibri"/>
              <a:buNone/>
            </a:pPr>
            <a:r>
              <a:rPr b="1" i="0" lang="en" sz="2700" u="none" cap="none" strike="noStrike">
                <a:solidFill>
                  <a:srgbClr val="12243A"/>
                </a:solidFill>
                <a:latin typeface="Calibri"/>
                <a:ea typeface="Calibri"/>
                <a:cs typeface="Calibri"/>
                <a:sym typeface="Calibri"/>
              </a:rPr>
              <a:t>Feature Engineering  —  70 Customer-Level Features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8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80"/>
              </a:buClr>
              <a:buSzPts val="1250"/>
              <a:buFont typeface="Calibri"/>
              <a:buNone/>
            </a:pPr>
            <a:r>
              <a:rPr b="0" i="0" lang="en" sz="1250" u="none" cap="none" strike="noStrike">
                <a:solidFill>
                  <a:srgbClr val="4A6580"/>
                </a:solidFill>
                <a:latin typeface="Calibri"/>
                <a:ea typeface="Calibri"/>
                <a:cs typeface="Calibri"/>
                <a:sym typeface="Calibri"/>
              </a:rPr>
              <a:t>Aggregated across 4.6M successful transactions  ·  100K customers  ·  10 behavioral feature groups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8"/>
          <p:cNvSpPr/>
          <p:nvPr/>
        </p:nvSpPr>
        <p:spPr>
          <a:xfrm>
            <a:off x="438912" y="1097280"/>
            <a:ext cx="1572768" cy="16276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E1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8"/>
          <p:cNvSpPr/>
          <p:nvPr/>
        </p:nvSpPr>
        <p:spPr>
          <a:xfrm>
            <a:off x="438912" y="1097280"/>
            <a:ext cx="1572768" cy="64008"/>
          </a:xfrm>
          <a:prstGeom prst="rect">
            <a:avLst/>
          </a:prstGeom>
          <a:solidFill>
            <a:srgbClr val="1A6FA8"/>
          </a:solidFill>
          <a:ln cap="flat" cmpd="sng" w="12700">
            <a:solidFill>
              <a:srgbClr val="1A6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8"/>
          <p:cNvSpPr/>
          <p:nvPr/>
        </p:nvSpPr>
        <p:spPr>
          <a:xfrm>
            <a:off x="512064" y="1252728"/>
            <a:ext cx="142646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6FA8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1A6FA8"/>
                </a:solidFill>
                <a:latin typeface="Calibri"/>
                <a:ea typeface="Calibri"/>
                <a:cs typeface="Calibri"/>
                <a:sym typeface="Calibri"/>
              </a:rPr>
              <a:t>RFM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8"/>
          <p:cNvSpPr/>
          <p:nvPr/>
        </p:nvSpPr>
        <p:spPr>
          <a:xfrm>
            <a:off x="512064" y="1709928"/>
            <a:ext cx="1426464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6580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4A6580"/>
                </a:solidFill>
                <a:latin typeface="Calibri"/>
                <a:ea typeface="Calibri"/>
                <a:cs typeface="Calibri"/>
                <a:sym typeface="Calibri"/>
              </a:rPr>
              <a:t>Recency, frequency,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6580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4A6580"/>
                </a:solidFill>
                <a:latin typeface="Calibri"/>
                <a:ea typeface="Calibri"/>
                <a:cs typeface="Calibri"/>
                <a:sym typeface="Calibri"/>
              </a:rPr>
              <a:t>monetary stats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8"/>
          <p:cNvSpPr/>
          <p:nvPr/>
        </p:nvSpPr>
        <p:spPr>
          <a:xfrm>
            <a:off x="2212848" y="1097280"/>
            <a:ext cx="1572768" cy="16276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E1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8"/>
          <p:cNvSpPr/>
          <p:nvPr/>
        </p:nvSpPr>
        <p:spPr>
          <a:xfrm>
            <a:off x="2212848" y="1097280"/>
            <a:ext cx="1572768" cy="64008"/>
          </a:xfrm>
          <a:prstGeom prst="rect">
            <a:avLst/>
          </a:prstGeom>
          <a:solidFill>
            <a:srgbClr val="1C7293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8"/>
          <p:cNvSpPr/>
          <p:nvPr/>
        </p:nvSpPr>
        <p:spPr>
          <a:xfrm>
            <a:off x="2286000" y="1252728"/>
            <a:ext cx="142646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Txn Type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8"/>
          <p:cNvSpPr/>
          <p:nvPr/>
        </p:nvSpPr>
        <p:spPr>
          <a:xfrm>
            <a:off x="2286000" y="1709928"/>
            <a:ext cx="1426464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6580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4A6580"/>
                </a:solidFill>
                <a:latin typeface="Calibri"/>
                <a:ea typeface="Calibri"/>
                <a:cs typeface="Calibri"/>
                <a:sym typeface="Calibri"/>
              </a:rPr>
              <a:t>Debit/credit counts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6580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4A6580"/>
                </a:solidFill>
                <a:latin typeface="Calibri"/>
                <a:ea typeface="Calibri"/>
                <a:cs typeface="Calibri"/>
                <a:sym typeface="Calibri"/>
              </a:rPr>
              <a:t>&amp; ratios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8"/>
          <p:cNvSpPr/>
          <p:nvPr/>
        </p:nvSpPr>
        <p:spPr>
          <a:xfrm>
            <a:off x="3986784" y="1097280"/>
            <a:ext cx="1572768" cy="16276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E1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8"/>
          <p:cNvSpPr/>
          <p:nvPr/>
        </p:nvSpPr>
        <p:spPr>
          <a:xfrm>
            <a:off x="3986784" y="1097280"/>
            <a:ext cx="1572768" cy="64008"/>
          </a:xfrm>
          <a:prstGeom prst="rect">
            <a:avLst/>
          </a:prstGeom>
          <a:solidFill>
            <a:srgbClr val="2A9B5E"/>
          </a:solidFill>
          <a:ln cap="flat" cmpd="sng" w="12700">
            <a:solidFill>
              <a:srgbClr val="2A9B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8"/>
          <p:cNvSpPr/>
          <p:nvPr/>
        </p:nvSpPr>
        <p:spPr>
          <a:xfrm>
            <a:off x="4059936" y="1252728"/>
            <a:ext cx="142646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9B5E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2A9B5E"/>
                </a:solidFill>
                <a:latin typeface="Calibri"/>
                <a:ea typeface="Calibri"/>
                <a:cs typeface="Calibri"/>
                <a:sym typeface="Calibri"/>
              </a:rPr>
              <a:t>Channel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8"/>
          <p:cNvSpPr/>
          <p:nvPr/>
        </p:nvSpPr>
        <p:spPr>
          <a:xfrm>
            <a:off x="4059936" y="1709928"/>
            <a:ext cx="1426464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6580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4A6580"/>
                </a:solidFill>
                <a:latin typeface="Calibri"/>
                <a:ea typeface="Calibri"/>
                <a:cs typeface="Calibri"/>
                <a:sym typeface="Calibri"/>
              </a:rPr>
              <a:t>Per-channel ratios,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6580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4A6580"/>
                </a:solidFill>
                <a:latin typeface="Calibri"/>
                <a:ea typeface="Calibri"/>
                <a:cs typeface="Calibri"/>
                <a:sym typeface="Calibri"/>
              </a:rPr>
              <a:t>primary + diversity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8"/>
          <p:cNvSpPr/>
          <p:nvPr/>
        </p:nvSpPr>
        <p:spPr>
          <a:xfrm>
            <a:off x="5760720" y="1097280"/>
            <a:ext cx="1572768" cy="16276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E1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8"/>
          <p:cNvSpPr/>
          <p:nvPr/>
        </p:nvSpPr>
        <p:spPr>
          <a:xfrm>
            <a:off x="5760720" y="1097280"/>
            <a:ext cx="1572768" cy="64008"/>
          </a:xfrm>
          <a:prstGeom prst="rect">
            <a:avLst/>
          </a:prstGeom>
          <a:solidFill>
            <a:srgbClr val="6D4C99"/>
          </a:solidFill>
          <a:ln cap="flat" cmpd="sng" w="12700">
            <a:solidFill>
              <a:srgbClr val="6D4C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8"/>
          <p:cNvSpPr/>
          <p:nvPr/>
        </p:nvSpPr>
        <p:spPr>
          <a:xfrm>
            <a:off x="5833872" y="1252728"/>
            <a:ext cx="142646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4C99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6D4C99"/>
                </a:solidFill>
                <a:latin typeface="Calibri"/>
                <a:ea typeface="Calibri"/>
                <a:cs typeface="Calibri"/>
                <a:sym typeface="Calibri"/>
              </a:rPr>
              <a:t>Temporal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8"/>
          <p:cNvSpPr/>
          <p:nvPr/>
        </p:nvSpPr>
        <p:spPr>
          <a:xfrm>
            <a:off x="5833872" y="1709928"/>
            <a:ext cx="1426464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6580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4A6580"/>
                </a:solidFill>
                <a:latin typeface="Calibri"/>
                <a:ea typeface="Calibri"/>
                <a:cs typeface="Calibri"/>
                <a:sym typeface="Calibri"/>
              </a:rPr>
              <a:t>Tenure, peak hour,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6580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4A6580"/>
                </a:solidFill>
                <a:latin typeface="Calibri"/>
                <a:ea typeface="Calibri"/>
                <a:cs typeface="Calibri"/>
                <a:sym typeface="Calibri"/>
              </a:rPr>
              <a:t>entropy, weekend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8"/>
          <p:cNvSpPr/>
          <p:nvPr/>
        </p:nvSpPr>
        <p:spPr>
          <a:xfrm>
            <a:off x="7534656" y="1097280"/>
            <a:ext cx="1572768" cy="16276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E1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8"/>
          <p:cNvSpPr/>
          <p:nvPr/>
        </p:nvSpPr>
        <p:spPr>
          <a:xfrm>
            <a:off x="7534656" y="1097280"/>
            <a:ext cx="1572768" cy="64008"/>
          </a:xfrm>
          <a:prstGeom prst="rect">
            <a:avLst/>
          </a:prstGeom>
          <a:solidFill>
            <a:srgbClr val="D94F43"/>
          </a:solidFill>
          <a:ln cap="flat" cmpd="sng" w="12700">
            <a:solidFill>
              <a:srgbClr val="D94F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8"/>
          <p:cNvSpPr/>
          <p:nvPr/>
        </p:nvSpPr>
        <p:spPr>
          <a:xfrm>
            <a:off x="7607808" y="1252728"/>
            <a:ext cx="142646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4F43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D94F43"/>
                </a:solidFill>
                <a:latin typeface="Calibri"/>
                <a:ea typeface="Calibri"/>
                <a:cs typeface="Calibri"/>
                <a:sym typeface="Calibri"/>
              </a:rPr>
              <a:t>Status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8"/>
          <p:cNvSpPr/>
          <p:nvPr/>
        </p:nvSpPr>
        <p:spPr>
          <a:xfrm>
            <a:off x="7607808" y="1709928"/>
            <a:ext cx="1426464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6580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4A6580"/>
                </a:solidFill>
                <a:latin typeface="Calibri"/>
                <a:ea typeface="Calibri"/>
                <a:cs typeface="Calibri"/>
                <a:sym typeface="Calibri"/>
              </a:rPr>
              <a:t>Failed/pending/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6580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4A6580"/>
                </a:solidFill>
                <a:latin typeface="Calibri"/>
                <a:ea typeface="Calibri"/>
                <a:cs typeface="Calibri"/>
                <a:sym typeface="Calibri"/>
              </a:rPr>
              <a:t>reversed rates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8"/>
          <p:cNvSpPr/>
          <p:nvPr/>
        </p:nvSpPr>
        <p:spPr>
          <a:xfrm>
            <a:off x="438912" y="2980944"/>
            <a:ext cx="1572768" cy="16276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E1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8"/>
          <p:cNvSpPr/>
          <p:nvPr/>
        </p:nvSpPr>
        <p:spPr>
          <a:xfrm>
            <a:off x="438912" y="2980944"/>
            <a:ext cx="1572768" cy="64008"/>
          </a:xfrm>
          <a:prstGeom prst="rect">
            <a:avLst/>
          </a:prstGeom>
          <a:solidFill>
            <a:srgbClr val="C47A1E"/>
          </a:solidFill>
          <a:ln cap="flat" cmpd="sng" w="12700">
            <a:solidFill>
              <a:srgbClr val="C47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8"/>
          <p:cNvSpPr/>
          <p:nvPr/>
        </p:nvSpPr>
        <p:spPr>
          <a:xfrm>
            <a:off x="512064" y="3136392"/>
            <a:ext cx="142646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47A1E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C47A1E"/>
                </a:solidFill>
                <a:latin typeface="Calibri"/>
                <a:ea typeface="Calibri"/>
                <a:cs typeface="Calibri"/>
                <a:sym typeface="Calibri"/>
              </a:rPr>
              <a:t>Balance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8"/>
          <p:cNvSpPr/>
          <p:nvPr/>
        </p:nvSpPr>
        <p:spPr>
          <a:xfrm>
            <a:off x="512064" y="3593592"/>
            <a:ext cx="1426464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6580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4A6580"/>
                </a:solidFill>
                <a:latin typeface="Calibri"/>
                <a:ea typeface="Calibri"/>
                <a:cs typeface="Calibri"/>
                <a:sym typeface="Calibri"/>
              </a:rPr>
              <a:t>Avg, max, min, std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6580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4A6580"/>
                </a:solidFill>
                <a:latin typeface="Calibri"/>
                <a:ea typeface="Calibri"/>
                <a:cs typeface="Calibri"/>
                <a:sym typeface="Calibri"/>
              </a:rPr>
              <a:t>of balance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8"/>
          <p:cNvSpPr/>
          <p:nvPr/>
        </p:nvSpPr>
        <p:spPr>
          <a:xfrm>
            <a:off x="2212848" y="2980944"/>
            <a:ext cx="1572768" cy="16276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E1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8"/>
          <p:cNvSpPr/>
          <p:nvPr/>
        </p:nvSpPr>
        <p:spPr>
          <a:xfrm>
            <a:off x="2212848" y="2980944"/>
            <a:ext cx="1572768" cy="64008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8"/>
          <p:cNvSpPr/>
          <p:nvPr/>
        </p:nvSpPr>
        <p:spPr>
          <a:xfrm>
            <a:off x="2286000" y="3136392"/>
            <a:ext cx="142646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Geography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8"/>
          <p:cNvSpPr/>
          <p:nvPr/>
        </p:nvSpPr>
        <p:spPr>
          <a:xfrm>
            <a:off x="2286000" y="3593592"/>
            <a:ext cx="1426464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6580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4A6580"/>
                </a:solidFill>
                <a:latin typeface="Calibri"/>
                <a:ea typeface="Calibri"/>
                <a:cs typeface="Calibri"/>
                <a:sym typeface="Calibri"/>
              </a:rPr>
              <a:t>Primary state,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6580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4A6580"/>
                </a:solidFill>
                <a:latin typeface="Calibri"/>
                <a:ea typeface="Calibri"/>
                <a:cs typeface="Calibri"/>
                <a:sym typeface="Calibri"/>
              </a:rPr>
              <a:t>unique states/LGAs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8"/>
          <p:cNvSpPr/>
          <p:nvPr/>
        </p:nvSpPr>
        <p:spPr>
          <a:xfrm>
            <a:off x="3986784" y="2980944"/>
            <a:ext cx="1572768" cy="16276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E1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8"/>
          <p:cNvSpPr/>
          <p:nvPr/>
        </p:nvSpPr>
        <p:spPr>
          <a:xfrm>
            <a:off x="3986784" y="2980944"/>
            <a:ext cx="1572768" cy="64008"/>
          </a:xfrm>
          <a:prstGeom prst="rect">
            <a:avLst/>
          </a:prstGeom>
          <a:solidFill>
            <a:srgbClr val="2A9B5E"/>
          </a:solidFill>
          <a:ln cap="flat" cmpd="sng" w="12700">
            <a:solidFill>
              <a:srgbClr val="2A9B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8"/>
          <p:cNvSpPr/>
          <p:nvPr/>
        </p:nvSpPr>
        <p:spPr>
          <a:xfrm>
            <a:off x="4059936" y="3136392"/>
            <a:ext cx="142646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9B5E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2A9B5E"/>
                </a:solidFill>
                <a:latin typeface="Calibri"/>
                <a:ea typeface="Calibri"/>
                <a:cs typeface="Calibri"/>
                <a:sym typeface="Calibri"/>
              </a:rPr>
              <a:t>Merchant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8"/>
          <p:cNvSpPr/>
          <p:nvPr/>
        </p:nvSpPr>
        <p:spPr>
          <a:xfrm>
            <a:off x="4059936" y="3593592"/>
            <a:ext cx="1426464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6580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4A6580"/>
                </a:solidFill>
                <a:latin typeface="Calibri"/>
                <a:ea typeface="Calibri"/>
                <a:cs typeface="Calibri"/>
                <a:sym typeface="Calibri"/>
              </a:rPr>
              <a:t>Unique merchants &amp;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6580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4A6580"/>
                </a:solidFill>
                <a:latin typeface="Calibri"/>
                <a:ea typeface="Calibri"/>
                <a:cs typeface="Calibri"/>
                <a:sym typeface="Calibri"/>
              </a:rPr>
              <a:t>MCC counts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8"/>
          <p:cNvSpPr/>
          <p:nvPr/>
        </p:nvSpPr>
        <p:spPr>
          <a:xfrm>
            <a:off x="5760720" y="2980944"/>
            <a:ext cx="1572768" cy="16276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E1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8"/>
          <p:cNvSpPr/>
          <p:nvPr/>
        </p:nvSpPr>
        <p:spPr>
          <a:xfrm>
            <a:off x="5760720" y="2980944"/>
            <a:ext cx="1572768" cy="64008"/>
          </a:xfrm>
          <a:prstGeom prst="rect">
            <a:avLst/>
          </a:prstGeom>
          <a:solidFill>
            <a:srgbClr val="6D4C99"/>
          </a:solidFill>
          <a:ln cap="flat" cmpd="sng" w="12700">
            <a:solidFill>
              <a:srgbClr val="6D4C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8"/>
          <p:cNvSpPr/>
          <p:nvPr/>
        </p:nvSpPr>
        <p:spPr>
          <a:xfrm>
            <a:off x="5833872" y="3136392"/>
            <a:ext cx="142646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4C99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6D4C99"/>
                </a:solidFill>
                <a:latin typeface="Calibri"/>
                <a:ea typeface="Calibri"/>
                <a:cs typeface="Calibri"/>
                <a:sym typeface="Calibri"/>
              </a:rPr>
              <a:t>Monthly Trends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8"/>
          <p:cNvSpPr/>
          <p:nvPr/>
        </p:nvSpPr>
        <p:spPr>
          <a:xfrm>
            <a:off x="5833872" y="3593592"/>
            <a:ext cx="1426464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6580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4A6580"/>
                </a:solidFill>
                <a:latin typeface="Calibri"/>
                <a:ea typeface="Calibri"/>
                <a:cs typeface="Calibri"/>
                <a:sym typeface="Calibri"/>
              </a:rPr>
              <a:t>3M vs 6M trend,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6580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4A6580"/>
                </a:solidFill>
                <a:latin typeface="Calibri"/>
                <a:ea typeface="Calibri"/>
                <a:cs typeface="Calibri"/>
                <a:sym typeface="Calibri"/>
              </a:rPr>
              <a:t>monthly volatility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8"/>
          <p:cNvSpPr/>
          <p:nvPr/>
        </p:nvSpPr>
        <p:spPr>
          <a:xfrm>
            <a:off x="7534656" y="2980944"/>
            <a:ext cx="1572768" cy="16276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E1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8"/>
          <p:cNvSpPr/>
          <p:nvPr/>
        </p:nvSpPr>
        <p:spPr>
          <a:xfrm>
            <a:off x="7534656" y="2980944"/>
            <a:ext cx="1572768" cy="64008"/>
          </a:xfrm>
          <a:prstGeom prst="rect">
            <a:avLst/>
          </a:prstGeom>
          <a:solidFill>
            <a:srgbClr val="D94F43"/>
          </a:solidFill>
          <a:ln cap="flat" cmpd="sng" w="12700">
            <a:solidFill>
              <a:srgbClr val="D94F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8"/>
          <p:cNvSpPr/>
          <p:nvPr/>
        </p:nvSpPr>
        <p:spPr>
          <a:xfrm>
            <a:off x="7607808" y="3136392"/>
            <a:ext cx="142646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4F43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D94F43"/>
                </a:solidFill>
                <a:latin typeface="Calibri"/>
                <a:ea typeface="Calibri"/>
                <a:cs typeface="Calibri"/>
                <a:sym typeface="Calibri"/>
              </a:rPr>
              <a:t>Outlier Behavior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8"/>
          <p:cNvSpPr/>
          <p:nvPr/>
        </p:nvSpPr>
        <p:spPr>
          <a:xfrm>
            <a:off x="7607808" y="3593592"/>
            <a:ext cx="1426464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6580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4A6580"/>
                </a:solidFill>
                <a:latin typeface="Calibri"/>
                <a:ea typeface="Calibri"/>
                <a:cs typeface="Calibri"/>
                <a:sym typeface="Calibri"/>
              </a:rPr>
              <a:t>Large-amount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6580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4A6580"/>
                </a:solidFill>
                <a:latin typeface="Calibri"/>
                <a:ea typeface="Calibri"/>
                <a:cs typeface="Calibri"/>
                <a:sym typeface="Calibri"/>
              </a:rPr>
              <a:t>transaction ratio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9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43A"/>
              </a:buClr>
              <a:buSzPts val="2700"/>
              <a:buFont typeface="Calibri"/>
              <a:buNone/>
            </a:pPr>
            <a:r>
              <a:rPr b="1" i="0" lang="en" sz="2700" u="none" cap="none" strike="noStrike">
                <a:solidFill>
                  <a:srgbClr val="12243A"/>
                </a:solidFill>
                <a:latin typeface="Calibri"/>
                <a:ea typeface="Calibri"/>
                <a:cs typeface="Calibri"/>
                <a:sym typeface="Calibri"/>
              </a:rPr>
              <a:t>Feature Importance  —  LightGBM + SHAP Analysis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9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80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4A6580"/>
                </a:solidFill>
                <a:latin typeface="Calibri"/>
                <a:ea typeface="Calibri"/>
                <a:cs typeface="Calibri"/>
                <a:sym typeface="Calibri"/>
              </a:rPr>
              <a:t>Target: 3-month transaction count  ·  64 features  ·  R² = 0.789  ·  MAE = 1.32  ·  LightGBM Regressor on 80K customers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5" name="Google Shape;195;p19"/>
          <p:cNvGraphicFramePr/>
          <p:nvPr/>
        </p:nvGraphicFramePr>
        <p:xfrm>
          <a:off x="438912" y="107899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{0333ED3A-DA1C-4139-8CE9-9066F44B2C3E}</a:tableStyleId>
              </a:tblPr>
              <a:tblGrid>
                <a:gridCol w="457200"/>
                <a:gridCol w="2057400"/>
                <a:gridCol w="960125"/>
                <a:gridCol w="822950"/>
                <a:gridCol w="1280150"/>
              </a:tblGrid>
              <a:tr h="340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FFFFFF"/>
                          </a:solidFill>
                        </a:rPr>
                        <a:t>Rank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6F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FFFFFF"/>
                          </a:solidFill>
                        </a:rPr>
                        <a:t>Feature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6F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FFFFFF"/>
                          </a:solidFill>
                        </a:rPr>
                        <a:t>SHAP Score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6F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FFFFFF"/>
                          </a:solidFill>
                        </a:rPr>
                        <a:t>Gain Rank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6F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6FA8"/>
                    </a:solidFill>
                  </a:tcPr>
                </a:tc>
              </a:tr>
              <a:tr h="340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3A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" sz="1050" u="none" cap="none" strike="noStrike">
                          <a:solidFill>
                            <a:srgbClr val="12243A"/>
                          </a:solidFill>
                        </a:rPr>
                        <a:t>1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6FA8"/>
                        </a:buClr>
                        <a:buSzPts val="1050"/>
                        <a:buFont typeface="Calibri"/>
                        <a:buNone/>
                      </a:pPr>
                      <a:r>
                        <a:rPr lang="en" sz="1050" u="none" cap="none" strike="noStrike">
                          <a:solidFill>
                            <a:srgbClr val="1A6FA8"/>
                          </a:solidFill>
                        </a:rPr>
                        <a:t>frequency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3A"/>
                        </a:buClr>
                        <a:buSzPts val="1050"/>
                        <a:buFont typeface="Calibri"/>
                        <a:buNone/>
                      </a:pPr>
                      <a:r>
                        <a:rPr lang="en" sz="1050" u="none" cap="none" strike="noStrike">
                          <a:solidFill>
                            <a:srgbClr val="12243A"/>
                          </a:solidFill>
                        </a:rPr>
                        <a:t>2.07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3A"/>
                        </a:buClr>
                        <a:buSzPts val="1050"/>
                        <a:buFont typeface="Calibri"/>
                        <a:buNone/>
                      </a:pPr>
                      <a:r>
                        <a:rPr lang="en" sz="1050" u="none" cap="none" strike="noStrike">
                          <a:solidFill>
                            <a:srgbClr val="12243A"/>
                          </a:solidFill>
                        </a:rPr>
                        <a:t>#8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3A"/>
                        </a:buClr>
                        <a:buSzPts val="1050"/>
                        <a:buFont typeface="Calibri"/>
                        <a:buNone/>
                      </a:pPr>
                      <a:r>
                        <a:rPr lang="en" sz="1050" u="none" cap="none" strike="noStrike">
                          <a:solidFill>
                            <a:srgbClr val="12243A"/>
                          </a:solidFill>
                        </a:rPr>
                        <a:t>RFM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0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3A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" sz="1050" u="none" cap="none" strike="noStrike">
                          <a:solidFill>
                            <a:srgbClr val="12243A"/>
                          </a:solidFill>
                        </a:rPr>
                        <a:t>2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6FA8"/>
                        </a:buClr>
                        <a:buSzPts val="1050"/>
                        <a:buFont typeface="Calibri"/>
                        <a:buNone/>
                      </a:pPr>
                      <a:r>
                        <a:rPr lang="en" sz="1050" u="none" cap="none" strike="noStrike">
                          <a:solidFill>
                            <a:srgbClr val="1A6FA8"/>
                          </a:solidFill>
                        </a:rPr>
                        <a:t>recency_days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3A"/>
                        </a:buClr>
                        <a:buSzPts val="1050"/>
                        <a:buFont typeface="Calibri"/>
                        <a:buNone/>
                      </a:pPr>
                      <a:r>
                        <a:rPr lang="en" sz="1050" u="none" cap="none" strike="noStrike">
                          <a:solidFill>
                            <a:srgbClr val="12243A"/>
                          </a:solidFill>
                        </a:rPr>
                        <a:t>0.73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3A"/>
                        </a:buClr>
                        <a:buSzPts val="1050"/>
                        <a:buFont typeface="Calibri"/>
                        <a:buNone/>
                      </a:pPr>
                      <a:r>
                        <a:rPr lang="en" sz="1050" u="none" cap="none" strike="noStrike">
                          <a:solidFill>
                            <a:srgbClr val="12243A"/>
                          </a:solidFill>
                        </a:rPr>
                        <a:t>#20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3A"/>
                        </a:buClr>
                        <a:buSzPts val="1050"/>
                        <a:buFont typeface="Calibri"/>
                        <a:buNone/>
                      </a:pPr>
                      <a:r>
                        <a:rPr lang="en" sz="1050" u="none" cap="none" strike="noStrike">
                          <a:solidFill>
                            <a:srgbClr val="12243A"/>
                          </a:solidFill>
                        </a:rPr>
                        <a:t>RFM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8"/>
                    </a:solidFill>
                  </a:tcPr>
                </a:tc>
              </a:tr>
              <a:tr h="340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3A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" sz="1050" u="none" cap="none" strike="noStrike">
                          <a:solidFill>
                            <a:srgbClr val="12243A"/>
                          </a:solidFill>
                        </a:rPr>
                        <a:t>3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6FA8"/>
                        </a:buClr>
                        <a:buSzPts val="1050"/>
                        <a:buFont typeface="Calibri"/>
                        <a:buNone/>
                      </a:pPr>
                      <a:r>
                        <a:rPr lang="en" sz="1050" u="none" cap="none" strike="noStrike">
                          <a:solidFill>
                            <a:srgbClr val="1A6FA8"/>
                          </a:solidFill>
                        </a:rPr>
                        <a:t>status_success_count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3A"/>
                        </a:buClr>
                        <a:buSzPts val="1050"/>
                        <a:buFont typeface="Calibri"/>
                        <a:buNone/>
                      </a:pPr>
                      <a:r>
                        <a:rPr lang="en" sz="1050" u="none" cap="none" strike="noStrike">
                          <a:solidFill>
                            <a:srgbClr val="12243A"/>
                          </a:solidFill>
                        </a:rPr>
                        <a:t>0.42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3A"/>
                        </a:buClr>
                        <a:buSzPts val="1050"/>
                        <a:buFont typeface="Calibri"/>
                        <a:buNone/>
                      </a:pPr>
                      <a:r>
                        <a:rPr lang="en" sz="1050" u="none" cap="none" strike="noStrike">
                          <a:solidFill>
                            <a:srgbClr val="12243A"/>
                          </a:solidFill>
                        </a:rPr>
                        <a:t>#10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3A"/>
                        </a:buClr>
                        <a:buSzPts val="1050"/>
                        <a:buFont typeface="Calibri"/>
                        <a:buNone/>
                      </a:pPr>
                      <a:r>
                        <a:rPr lang="en" sz="1050" u="none" cap="none" strike="noStrike">
                          <a:solidFill>
                            <a:srgbClr val="12243A"/>
                          </a:solidFill>
                        </a:rPr>
                        <a:t>Status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0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3A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" sz="1050" u="none" cap="none" strike="noStrike">
                          <a:solidFill>
                            <a:srgbClr val="12243A"/>
                          </a:solidFill>
                        </a:rPr>
                        <a:t>4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6FA8"/>
                        </a:buClr>
                        <a:buSzPts val="1050"/>
                        <a:buFont typeface="Calibri"/>
                        <a:buNone/>
                      </a:pPr>
                      <a:r>
                        <a:rPr lang="en" sz="1050" u="none" cap="none" strike="noStrike">
                          <a:solidFill>
                            <a:srgbClr val="1A6FA8"/>
                          </a:solidFill>
                        </a:rPr>
                        <a:t>total_txn_all_status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3A"/>
                        </a:buClr>
                        <a:buSzPts val="1050"/>
                        <a:buFont typeface="Calibri"/>
                        <a:buNone/>
                      </a:pPr>
                      <a:r>
                        <a:rPr lang="en" sz="1050" u="none" cap="none" strike="noStrike">
                          <a:solidFill>
                            <a:srgbClr val="12243A"/>
                          </a:solidFill>
                        </a:rPr>
                        <a:t>0.41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3A"/>
                        </a:buClr>
                        <a:buSzPts val="1050"/>
                        <a:buFont typeface="Calibri"/>
                        <a:buNone/>
                      </a:pPr>
                      <a:r>
                        <a:rPr lang="en" sz="1050" u="none" cap="none" strike="noStrike">
                          <a:solidFill>
                            <a:srgbClr val="12243A"/>
                          </a:solidFill>
                        </a:rPr>
                        <a:t>#12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3A"/>
                        </a:buClr>
                        <a:buSzPts val="1050"/>
                        <a:buFont typeface="Calibri"/>
                        <a:buNone/>
                      </a:pPr>
                      <a:r>
                        <a:rPr lang="en" sz="1050" u="none" cap="none" strike="noStrike">
                          <a:solidFill>
                            <a:srgbClr val="12243A"/>
                          </a:solidFill>
                        </a:rPr>
                        <a:t>Status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8"/>
                    </a:solidFill>
                  </a:tcPr>
                </a:tc>
              </a:tr>
              <a:tr h="340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3A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" sz="1050" u="none" cap="none" strike="noStrike">
                          <a:solidFill>
                            <a:srgbClr val="12243A"/>
                          </a:solidFill>
                        </a:rPr>
                        <a:t>5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6FA8"/>
                        </a:buClr>
                        <a:buSzPts val="1050"/>
                        <a:buFont typeface="Calibri"/>
                        <a:buNone/>
                      </a:pPr>
                      <a:r>
                        <a:rPr lang="en" sz="1050" u="none" cap="none" strike="noStrike">
                          <a:solidFill>
                            <a:srgbClr val="1A6FA8"/>
                          </a:solidFill>
                        </a:rPr>
                        <a:t>txn_type_debit_count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3A"/>
                        </a:buClr>
                        <a:buSzPts val="1050"/>
                        <a:buFont typeface="Calibri"/>
                        <a:buNone/>
                      </a:pPr>
                      <a:r>
                        <a:rPr lang="en" sz="1050" u="none" cap="none" strike="noStrike">
                          <a:solidFill>
                            <a:srgbClr val="12243A"/>
                          </a:solidFill>
                        </a:rPr>
                        <a:t>0.34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3A"/>
                        </a:buClr>
                        <a:buSzPts val="1050"/>
                        <a:buFont typeface="Calibri"/>
                        <a:buNone/>
                      </a:pPr>
                      <a:r>
                        <a:rPr lang="en" sz="1050" u="none" cap="none" strike="noStrike">
                          <a:solidFill>
                            <a:srgbClr val="12243A"/>
                          </a:solidFill>
                        </a:rPr>
                        <a:t>#4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3A"/>
                        </a:buClr>
                        <a:buSzPts val="1050"/>
                        <a:buFont typeface="Calibri"/>
                        <a:buNone/>
                      </a:pPr>
                      <a:r>
                        <a:rPr lang="en" sz="1050" u="none" cap="none" strike="noStrike">
                          <a:solidFill>
                            <a:srgbClr val="12243A"/>
                          </a:solidFill>
                        </a:rPr>
                        <a:t>Txn Type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0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3A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" sz="1050" u="none" cap="none" strike="noStrike">
                          <a:solidFill>
                            <a:srgbClr val="12243A"/>
                          </a:solidFill>
                        </a:rPr>
                        <a:t>6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6FA8"/>
                        </a:buClr>
                        <a:buSzPts val="1050"/>
                        <a:buFont typeface="Calibri"/>
                        <a:buNone/>
                      </a:pPr>
                      <a:r>
                        <a:rPr lang="en" sz="1050" u="none" cap="none" strike="noStrike">
                          <a:solidFill>
                            <a:srgbClr val="1A6FA8"/>
                          </a:solidFill>
                        </a:rPr>
                        <a:t>balance_inconsistent_count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3A"/>
                        </a:buClr>
                        <a:buSzPts val="1050"/>
                        <a:buFont typeface="Calibri"/>
                        <a:buNone/>
                      </a:pPr>
                      <a:r>
                        <a:rPr lang="en" sz="1050" u="none" cap="none" strike="noStrike">
                          <a:solidFill>
                            <a:srgbClr val="12243A"/>
                          </a:solidFill>
                        </a:rPr>
                        <a:t>0.33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3A"/>
                        </a:buClr>
                        <a:buSzPts val="1050"/>
                        <a:buFont typeface="Calibri"/>
                        <a:buNone/>
                      </a:pPr>
                      <a:r>
                        <a:rPr lang="en" sz="1050" u="none" cap="none" strike="noStrike">
                          <a:solidFill>
                            <a:srgbClr val="12243A"/>
                          </a:solidFill>
                        </a:rPr>
                        <a:t>#9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3A"/>
                        </a:buClr>
                        <a:buSzPts val="1050"/>
                        <a:buFont typeface="Calibri"/>
                        <a:buNone/>
                      </a:pPr>
                      <a:r>
                        <a:rPr lang="en" sz="1050" u="none" cap="none" strike="noStrike">
                          <a:solidFill>
                            <a:srgbClr val="12243A"/>
                          </a:solidFill>
                        </a:rPr>
                        <a:t>Balance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8"/>
                    </a:solidFill>
                  </a:tcPr>
                </a:tc>
              </a:tr>
              <a:tr h="340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3A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" sz="1050" u="none" cap="none" strike="noStrike">
                          <a:solidFill>
                            <a:srgbClr val="12243A"/>
                          </a:solidFill>
                        </a:rPr>
                        <a:t>7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6FA8"/>
                        </a:buClr>
                        <a:buSzPts val="1050"/>
                        <a:buFont typeface="Calibri"/>
                        <a:buNone/>
                      </a:pPr>
                      <a:r>
                        <a:rPr lang="en" sz="1050" u="none" cap="none" strike="noStrike">
                          <a:solidFill>
                            <a:srgbClr val="1A6FA8"/>
                          </a:solidFill>
                        </a:rPr>
                        <a:t>status_reversed_count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3A"/>
                        </a:buClr>
                        <a:buSzPts val="1050"/>
                        <a:buFont typeface="Calibri"/>
                        <a:buNone/>
                      </a:pPr>
                      <a:r>
                        <a:rPr lang="en" sz="1050" u="none" cap="none" strike="noStrike">
                          <a:solidFill>
                            <a:srgbClr val="12243A"/>
                          </a:solidFill>
                        </a:rPr>
                        <a:t>0.33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3A"/>
                        </a:buClr>
                        <a:buSzPts val="1050"/>
                        <a:buFont typeface="Calibri"/>
                        <a:buNone/>
                      </a:pPr>
                      <a:r>
                        <a:rPr lang="en" sz="1050" u="none" cap="none" strike="noStrike">
                          <a:solidFill>
                            <a:srgbClr val="12243A"/>
                          </a:solidFill>
                        </a:rPr>
                        <a:t>#1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3A"/>
                        </a:buClr>
                        <a:buSzPts val="1050"/>
                        <a:buFont typeface="Calibri"/>
                        <a:buNone/>
                      </a:pPr>
                      <a:r>
                        <a:rPr lang="en" sz="1050" u="none" cap="none" strike="noStrike">
                          <a:solidFill>
                            <a:srgbClr val="12243A"/>
                          </a:solidFill>
                        </a:rPr>
                        <a:t>Status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0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3A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" sz="1050" u="none" cap="none" strike="noStrike">
                          <a:solidFill>
                            <a:srgbClr val="12243A"/>
                          </a:solidFill>
                        </a:rPr>
                        <a:t>8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6FA8"/>
                        </a:buClr>
                        <a:buSzPts val="1050"/>
                        <a:buFont typeface="Calibri"/>
                        <a:buNone/>
                      </a:pPr>
                      <a:r>
                        <a:rPr lang="en" sz="1050" u="none" cap="none" strike="noStrike">
                          <a:solidFill>
                            <a:srgbClr val="1A6FA8"/>
                          </a:solidFill>
                        </a:rPr>
                        <a:t>n_active_days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3A"/>
                        </a:buClr>
                        <a:buSzPts val="1050"/>
                        <a:buFont typeface="Calibri"/>
                        <a:buNone/>
                      </a:pPr>
                      <a:r>
                        <a:rPr lang="en" sz="1050" u="none" cap="none" strike="noStrike">
                          <a:solidFill>
                            <a:srgbClr val="12243A"/>
                          </a:solidFill>
                        </a:rPr>
                        <a:t>0.30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3A"/>
                        </a:buClr>
                        <a:buSzPts val="1050"/>
                        <a:buFont typeface="Calibri"/>
                        <a:buNone/>
                      </a:pPr>
                      <a:r>
                        <a:rPr lang="en" sz="1050" u="none" cap="none" strike="noStrike">
                          <a:solidFill>
                            <a:srgbClr val="12243A"/>
                          </a:solidFill>
                        </a:rPr>
                        <a:t>#11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3A"/>
                        </a:buClr>
                        <a:buSzPts val="1050"/>
                        <a:buFont typeface="Calibri"/>
                        <a:buNone/>
                      </a:pPr>
                      <a:r>
                        <a:rPr lang="en" sz="1050" u="none" cap="none" strike="noStrike">
                          <a:solidFill>
                            <a:srgbClr val="12243A"/>
                          </a:solidFill>
                        </a:rPr>
                        <a:t>Temporal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8"/>
                    </a:solidFill>
                  </a:tcPr>
                </a:tc>
              </a:tr>
              <a:tr h="340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3A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" sz="1050" u="none" cap="none" strike="noStrike">
                          <a:solidFill>
                            <a:srgbClr val="12243A"/>
                          </a:solidFill>
                        </a:rPr>
                        <a:t>9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6FA8"/>
                        </a:buClr>
                        <a:buSzPts val="1050"/>
                        <a:buFont typeface="Calibri"/>
                        <a:buNone/>
                      </a:pPr>
                      <a:r>
                        <a:rPr lang="en" sz="1050" u="none" cap="none" strike="noStrike">
                          <a:solidFill>
                            <a:srgbClr val="1A6FA8"/>
                          </a:solidFill>
                        </a:rPr>
                        <a:t>status_pending_count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3A"/>
                        </a:buClr>
                        <a:buSzPts val="1050"/>
                        <a:buFont typeface="Calibri"/>
                        <a:buNone/>
                      </a:pPr>
                      <a:r>
                        <a:rPr lang="en" sz="1050" u="none" cap="none" strike="noStrike">
                          <a:solidFill>
                            <a:srgbClr val="12243A"/>
                          </a:solidFill>
                        </a:rPr>
                        <a:t>0.29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3A"/>
                        </a:buClr>
                        <a:buSzPts val="1050"/>
                        <a:buFont typeface="Calibri"/>
                        <a:buNone/>
                      </a:pPr>
                      <a:r>
                        <a:rPr lang="en" sz="1050" u="none" cap="none" strike="noStrike">
                          <a:solidFill>
                            <a:srgbClr val="12243A"/>
                          </a:solidFill>
                        </a:rPr>
                        <a:t>#2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3A"/>
                        </a:buClr>
                        <a:buSzPts val="1050"/>
                        <a:buFont typeface="Calibri"/>
                        <a:buNone/>
                      </a:pPr>
                      <a:r>
                        <a:rPr lang="en" sz="1050" u="none" cap="none" strike="noStrike">
                          <a:solidFill>
                            <a:srgbClr val="12243A"/>
                          </a:solidFill>
                        </a:rPr>
                        <a:t>Status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0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3A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" sz="1050" u="none" cap="none" strike="noStrike">
                          <a:solidFill>
                            <a:srgbClr val="12243A"/>
                          </a:solidFill>
                        </a:rPr>
                        <a:t>10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6FA8"/>
                        </a:buClr>
                        <a:buSzPts val="1050"/>
                        <a:buFont typeface="Calibri"/>
                        <a:buNone/>
                      </a:pPr>
                      <a:r>
                        <a:rPr lang="en" sz="1050" u="none" cap="none" strike="noStrike">
                          <a:solidFill>
                            <a:srgbClr val="1A6FA8"/>
                          </a:solidFill>
                        </a:rPr>
                        <a:t>monthly_count_mean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3A"/>
                        </a:buClr>
                        <a:buSzPts val="1050"/>
                        <a:buFont typeface="Calibri"/>
                        <a:buNone/>
                      </a:pPr>
                      <a:r>
                        <a:rPr lang="en" sz="1050" u="none" cap="none" strike="noStrike">
                          <a:solidFill>
                            <a:srgbClr val="12243A"/>
                          </a:solidFill>
                        </a:rPr>
                        <a:t>0.27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3A"/>
                        </a:buClr>
                        <a:buSzPts val="1050"/>
                        <a:buFont typeface="Calibri"/>
                        <a:buNone/>
                      </a:pPr>
                      <a:r>
                        <a:rPr lang="en" sz="1050" u="none" cap="none" strike="noStrike">
                          <a:solidFill>
                            <a:srgbClr val="12243A"/>
                          </a:solidFill>
                        </a:rPr>
                        <a:t>#21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3A"/>
                        </a:buClr>
                        <a:buSzPts val="1050"/>
                        <a:buFont typeface="Calibri"/>
                        <a:buNone/>
                      </a:pPr>
                      <a:r>
                        <a:rPr lang="en" sz="1050" u="none" cap="none" strike="noStrike">
                          <a:solidFill>
                            <a:srgbClr val="12243A"/>
                          </a:solidFill>
                        </a:rPr>
                        <a:t>Trend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8"/>
                    </a:solidFill>
                  </a:tcPr>
                </a:tc>
              </a:tr>
            </a:tbl>
          </a:graphicData>
        </a:graphic>
      </p:graphicFrame>
      <p:sp>
        <p:nvSpPr>
          <p:cNvPr id="196" name="Google Shape;196;p19"/>
          <p:cNvSpPr/>
          <p:nvPr/>
        </p:nvSpPr>
        <p:spPr>
          <a:xfrm>
            <a:off x="6217920" y="1078992"/>
            <a:ext cx="2606040" cy="11704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E1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9"/>
          <p:cNvSpPr/>
          <p:nvPr/>
        </p:nvSpPr>
        <p:spPr>
          <a:xfrm>
            <a:off x="6217920" y="1078992"/>
            <a:ext cx="64008" cy="1170432"/>
          </a:xfrm>
          <a:prstGeom prst="rect">
            <a:avLst/>
          </a:prstGeom>
          <a:solidFill>
            <a:srgbClr val="1A6FA8"/>
          </a:solidFill>
          <a:ln cap="flat" cmpd="sng" w="12700">
            <a:solidFill>
              <a:srgbClr val="1A6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9"/>
          <p:cNvSpPr/>
          <p:nvPr/>
        </p:nvSpPr>
        <p:spPr>
          <a:xfrm>
            <a:off x="6373368" y="1188720"/>
            <a:ext cx="235915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A8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1A6FA8"/>
                </a:solidFill>
                <a:latin typeface="Calibri"/>
                <a:ea typeface="Calibri"/>
                <a:cs typeface="Calibri"/>
                <a:sym typeface="Calibri"/>
              </a:rPr>
              <a:t>Frequency #1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9"/>
          <p:cNvSpPr/>
          <p:nvPr/>
        </p:nvSpPr>
        <p:spPr>
          <a:xfrm>
            <a:off x="6373368" y="1499616"/>
            <a:ext cx="2359152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43A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2243A"/>
                </a:solidFill>
                <a:latin typeface="Calibri"/>
                <a:ea typeface="Calibri"/>
                <a:cs typeface="Calibri"/>
                <a:sym typeface="Calibri"/>
              </a:rPr>
              <a:t>Transaction count beats every monetary feature. Future engagement is predicted by past activity, not past spend.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9"/>
          <p:cNvSpPr/>
          <p:nvPr/>
        </p:nvSpPr>
        <p:spPr>
          <a:xfrm>
            <a:off x="6217920" y="2340864"/>
            <a:ext cx="2606040" cy="11704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E1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9"/>
          <p:cNvSpPr/>
          <p:nvPr/>
        </p:nvSpPr>
        <p:spPr>
          <a:xfrm>
            <a:off x="6217920" y="2340864"/>
            <a:ext cx="64008" cy="1170432"/>
          </a:xfrm>
          <a:prstGeom prst="rect">
            <a:avLst/>
          </a:prstGeom>
          <a:solidFill>
            <a:srgbClr val="D94F43"/>
          </a:solidFill>
          <a:ln cap="flat" cmpd="sng" w="12700">
            <a:solidFill>
              <a:srgbClr val="D94F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9"/>
          <p:cNvSpPr/>
          <p:nvPr/>
        </p:nvSpPr>
        <p:spPr>
          <a:xfrm>
            <a:off x="6373368" y="2450592"/>
            <a:ext cx="235915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4F43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D94F43"/>
                </a:solidFill>
                <a:latin typeface="Calibri"/>
                <a:ea typeface="Calibri"/>
                <a:cs typeface="Calibri"/>
                <a:sym typeface="Calibri"/>
              </a:rPr>
              <a:t>Status Signals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9"/>
          <p:cNvSpPr/>
          <p:nvPr/>
        </p:nvSpPr>
        <p:spPr>
          <a:xfrm>
            <a:off x="6373368" y="2761488"/>
            <a:ext cx="2359152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43A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2243A"/>
                </a:solidFill>
                <a:latin typeface="Calibri"/>
                <a:ea typeface="Calibri"/>
                <a:cs typeface="Calibri"/>
                <a:sym typeface="Calibri"/>
              </a:rPr>
              <a:t>4 of top 10 features are status-based. Friction (failures, reversals) is a leading indicator of disengagement.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9"/>
          <p:cNvSpPr/>
          <p:nvPr/>
        </p:nvSpPr>
        <p:spPr>
          <a:xfrm>
            <a:off x="6217920" y="3602736"/>
            <a:ext cx="2606040" cy="11704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E1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9"/>
          <p:cNvSpPr/>
          <p:nvPr/>
        </p:nvSpPr>
        <p:spPr>
          <a:xfrm>
            <a:off x="6217920" y="3602736"/>
            <a:ext cx="64008" cy="1170432"/>
          </a:xfrm>
          <a:prstGeom prst="rect">
            <a:avLst/>
          </a:prstGeom>
          <a:solidFill>
            <a:srgbClr val="6D4C99"/>
          </a:solidFill>
          <a:ln cap="flat" cmpd="sng" w="12700">
            <a:solidFill>
              <a:srgbClr val="6D4C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9"/>
          <p:cNvSpPr/>
          <p:nvPr/>
        </p:nvSpPr>
        <p:spPr>
          <a:xfrm>
            <a:off x="6373368" y="3712464"/>
            <a:ext cx="235915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4C99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6D4C99"/>
                </a:solidFill>
                <a:latin typeface="Calibri"/>
                <a:ea typeface="Calibri"/>
                <a:cs typeface="Calibri"/>
                <a:sym typeface="Calibri"/>
              </a:rPr>
              <a:t>Gain vs SHAP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9"/>
          <p:cNvSpPr/>
          <p:nvPr/>
        </p:nvSpPr>
        <p:spPr>
          <a:xfrm>
            <a:off x="6373368" y="4023360"/>
            <a:ext cx="2359152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43A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2243A"/>
                </a:solidFill>
                <a:latin typeface="Calibri"/>
                <a:ea typeface="Calibri"/>
                <a:cs typeface="Calibri"/>
                <a:sym typeface="Calibri"/>
              </a:rPr>
              <a:t>Gain ranks status_reversed_count #1 (single-split impact); SHAP ranks frequency #1 (consistent across all rows).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43A"/>
              </a:buClr>
              <a:buSzPts val="2500"/>
              <a:buFont typeface="Calibri"/>
              <a:buNone/>
            </a:pPr>
            <a:r>
              <a:rPr b="1" i="0" lang="en" sz="2500" u="none" cap="none" strike="noStrike">
                <a:solidFill>
                  <a:srgbClr val="12243A"/>
                </a:solidFill>
                <a:latin typeface="Calibri"/>
                <a:ea typeface="Calibri"/>
                <a:cs typeface="Calibri"/>
                <a:sym typeface="Calibri"/>
              </a:rPr>
              <a:t>Predictive Model  —  Next-Month Transaction Forecasting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0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80"/>
              </a:buClr>
              <a:buSzPts val="1250"/>
              <a:buFont typeface="Calibri"/>
              <a:buNone/>
            </a:pPr>
            <a:r>
              <a:rPr b="0" i="0" lang="en" sz="1250" u="none" cap="none" strike="noStrike">
                <a:solidFill>
                  <a:srgbClr val="4A6580"/>
                </a:solidFill>
                <a:latin typeface="Calibri"/>
                <a:ea typeface="Calibri"/>
                <a:cs typeface="Calibri"/>
                <a:sym typeface="Calibri"/>
              </a:rPr>
              <a:t>LightGBM · Customer × Month panel · 2.4M rows · 47 time-series features · Strict temporal split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0"/>
          <p:cNvSpPr/>
          <p:nvPr/>
        </p:nvSpPr>
        <p:spPr>
          <a:xfrm>
            <a:off x="438912" y="1078992"/>
            <a:ext cx="4206240" cy="37947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E1EE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0"/>
          <p:cNvSpPr/>
          <p:nvPr/>
        </p:nvSpPr>
        <p:spPr>
          <a:xfrm>
            <a:off x="594360" y="1170432"/>
            <a:ext cx="3886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A8"/>
              </a:buClr>
              <a:buSzPts val="1250"/>
              <a:buFont typeface="Calibri"/>
              <a:buNone/>
            </a:pPr>
            <a:r>
              <a:rPr b="1" i="0" lang="en" sz="1250" u="none" cap="none" strike="noStrike">
                <a:solidFill>
                  <a:srgbClr val="1A6FA8"/>
                </a:solidFill>
                <a:latin typeface="Calibri"/>
                <a:ea typeface="Calibri"/>
                <a:cs typeface="Calibri"/>
                <a:sym typeface="Calibri"/>
              </a:rPr>
              <a:t>47 Time-Series Feature Categories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0"/>
          <p:cNvSpPr/>
          <p:nvPr/>
        </p:nvSpPr>
        <p:spPr>
          <a:xfrm>
            <a:off x="548640" y="1600200"/>
            <a:ext cx="64008" cy="411480"/>
          </a:xfrm>
          <a:prstGeom prst="rect">
            <a:avLst/>
          </a:prstGeom>
          <a:solidFill>
            <a:srgbClr val="1A6FA8"/>
          </a:solidFill>
          <a:ln cap="flat" cmpd="sng" w="12700">
            <a:solidFill>
              <a:srgbClr val="1A6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0"/>
          <p:cNvSpPr/>
          <p:nvPr/>
        </p:nvSpPr>
        <p:spPr>
          <a:xfrm>
            <a:off x="731520" y="1609344"/>
            <a:ext cx="3794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A8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1A6FA8"/>
                </a:solidFill>
                <a:latin typeface="Calibri"/>
                <a:ea typeface="Calibri"/>
                <a:cs typeface="Calibri"/>
                <a:sym typeface="Calibri"/>
              </a:rPr>
              <a:t>Lag Features (8)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0"/>
          <p:cNvSpPr/>
          <p:nvPr/>
        </p:nvSpPr>
        <p:spPr>
          <a:xfrm>
            <a:off x="731520" y="1828800"/>
            <a:ext cx="3794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80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4A6580"/>
                </a:solidFill>
                <a:latin typeface="Calibri"/>
                <a:ea typeface="Calibri"/>
                <a:cs typeface="Calibri"/>
                <a:sym typeface="Calibri"/>
              </a:rPr>
              <a:t>Count &amp; amount at t-1, t-2, t-3, t-6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0"/>
          <p:cNvSpPr/>
          <p:nvPr/>
        </p:nvSpPr>
        <p:spPr>
          <a:xfrm>
            <a:off x="548640" y="2121408"/>
            <a:ext cx="64008" cy="411480"/>
          </a:xfrm>
          <a:prstGeom prst="rect">
            <a:avLst/>
          </a:prstGeom>
          <a:solidFill>
            <a:srgbClr val="1C7293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0"/>
          <p:cNvSpPr/>
          <p:nvPr/>
        </p:nvSpPr>
        <p:spPr>
          <a:xfrm>
            <a:off x="731520" y="2130552"/>
            <a:ext cx="3794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Rolling Windows (6)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0"/>
          <p:cNvSpPr/>
          <p:nvPr/>
        </p:nvSpPr>
        <p:spPr>
          <a:xfrm>
            <a:off x="731520" y="2350008"/>
            <a:ext cx="3794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80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4A6580"/>
                </a:solidFill>
                <a:latin typeface="Calibri"/>
                <a:ea typeface="Calibri"/>
                <a:cs typeface="Calibri"/>
                <a:sym typeface="Calibri"/>
              </a:rPr>
              <a:t>3m/6m rolling mean &amp; std of count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0"/>
          <p:cNvSpPr/>
          <p:nvPr/>
        </p:nvSpPr>
        <p:spPr>
          <a:xfrm>
            <a:off x="548640" y="2642616"/>
            <a:ext cx="64008" cy="411480"/>
          </a:xfrm>
          <a:prstGeom prst="rect">
            <a:avLst/>
          </a:prstGeom>
          <a:solidFill>
            <a:srgbClr val="2A9B5E"/>
          </a:solidFill>
          <a:ln cap="flat" cmpd="sng" w="12700">
            <a:solidFill>
              <a:srgbClr val="2A9B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0"/>
          <p:cNvSpPr/>
          <p:nvPr/>
        </p:nvSpPr>
        <p:spPr>
          <a:xfrm>
            <a:off x="731520" y="2651760"/>
            <a:ext cx="3794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9B5E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2A9B5E"/>
                </a:solidFill>
                <a:latin typeface="Calibri"/>
                <a:ea typeface="Calibri"/>
                <a:cs typeface="Calibri"/>
                <a:sym typeface="Calibri"/>
              </a:rPr>
              <a:t>Seasonal / Calendar (6)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0"/>
          <p:cNvSpPr/>
          <p:nvPr/>
        </p:nvSpPr>
        <p:spPr>
          <a:xfrm>
            <a:off x="731520" y="2871216"/>
            <a:ext cx="3794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80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4A6580"/>
                </a:solidFill>
                <a:latin typeface="Calibri"/>
                <a:ea typeface="Calibri"/>
                <a:cs typeface="Calibri"/>
                <a:sym typeface="Calibri"/>
              </a:rPr>
              <a:t>Sin/cos month, Q1/Q4 flags, index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0"/>
          <p:cNvSpPr/>
          <p:nvPr/>
        </p:nvSpPr>
        <p:spPr>
          <a:xfrm>
            <a:off x="548640" y="3163824"/>
            <a:ext cx="64008" cy="411480"/>
          </a:xfrm>
          <a:prstGeom prst="rect">
            <a:avLst/>
          </a:prstGeom>
          <a:solidFill>
            <a:srgbClr val="6D4C99"/>
          </a:solidFill>
          <a:ln cap="flat" cmpd="sng" w="12700">
            <a:solidFill>
              <a:srgbClr val="6D4C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0"/>
          <p:cNvSpPr/>
          <p:nvPr/>
        </p:nvSpPr>
        <p:spPr>
          <a:xfrm>
            <a:off x="731520" y="3172968"/>
            <a:ext cx="3794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4C99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6D4C99"/>
                </a:solidFill>
                <a:latin typeface="Calibri"/>
                <a:ea typeface="Calibri"/>
                <a:cs typeface="Calibri"/>
                <a:sym typeface="Calibri"/>
              </a:rPr>
              <a:t>Current-Month Signals (16)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0"/>
          <p:cNvSpPr/>
          <p:nvPr/>
        </p:nvSpPr>
        <p:spPr>
          <a:xfrm>
            <a:off x="731520" y="3392424"/>
            <a:ext cx="3794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80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4A6580"/>
                </a:solidFill>
                <a:latin typeface="Calibri"/>
                <a:ea typeface="Calibri"/>
                <a:cs typeface="Calibri"/>
                <a:sym typeface="Calibri"/>
              </a:rPr>
              <a:t>Debit/credit, failed/pending/reversed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0"/>
          <p:cNvSpPr/>
          <p:nvPr/>
        </p:nvSpPr>
        <p:spPr>
          <a:xfrm>
            <a:off x="548640" y="3685032"/>
            <a:ext cx="64008" cy="411480"/>
          </a:xfrm>
          <a:prstGeom prst="rect">
            <a:avLst/>
          </a:prstGeom>
          <a:solidFill>
            <a:srgbClr val="D94F43"/>
          </a:solidFill>
          <a:ln cap="flat" cmpd="sng" w="12700">
            <a:solidFill>
              <a:srgbClr val="D94F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0"/>
          <p:cNvSpPr/>
          <p:nvPr/>
        </p:nvSpPr>
        <p:spPr>
          <a:xfrm>
            <a:off x="731520" y="3694176"/>
            <a:ext cx="3794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4F43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D94F43"/>
                </a:solidFill>
                <a:latin typeface="Calibri"/>
                <a:ea typeface="Calibri"/>
                <a:cs typeface="Calibri"/>
                <a:sym typeface="Calibri"/>
              </a:rPr>
              <a:t>Trend Features (3)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0"/>
          <p:cNvSpPr/>
          <p:nvPr/>
        </p:nvSpPr>
        <p:spPr>
          <a:xfrm>
            <a:off x="731520" y="3913632"/>
            <a:ext cx="3794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80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4A6580"/>
                </a:solidFill>
                <a:latin typeface="Calibri"/>
                <a:ea typeface="Calibri"/>
                <a:cs typeface="Calibri"/>
                <a:sym typeface="Calibri"/>
              </a:rPr>
              <a:t>1m/3m count diffs, lagged debit ratio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0"/>
          <p:cNvSpPr/>
          <p:nvPr/>
        </p:nvSpPr>
        <p:spPr>
          <a:xfrm>
            <a:off x="548640" y="4206240"/>
            <a:ext cx="64008" cy="411480"/>
          </a:xfrm>
          <a:prstGeom prst="rect">
            <a:avLst/>
          </a:prstGeom>
          <a:solidFill>
            <a:srgbClr val="C47A1E"/>
          </a:solidFill>
          <a:ln cap="flat" cmpd="sng" w="12700">
            <a:solidFill>
              <a:srgbClr val="C47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0"/>
          <p:cNvSpPr/>
          <p:nvPr/>
        </p:nvSpPr>
        <p:spPr>
          <a:xfrm>
            <a:off x="731520" y="4215384"/>
            <a:ext cx="3794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7A1E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C47A1E"/>
                </a:solidFill>
                <a:latin typeface="Calibri"/>
                <a:ea typeface="Calibri"/>
                <a:cs typeface="Calibri"/>
                <a:sym typeface="Calibri"/>
              </a:rPr>
              <a:t>Static Customer Profiles (8)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0"/>
          <p:cNvSpPr/>
          <p:nvPr/>
        </p:nvSpPr>
        <p:spPr>
          <a:xfrm>
            <a:off x="731520" y="4434840"/>
            <a:ext cx="3794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80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4A6580"/>
                </a:solidFill>
                <a:latin typeface="Calibri"/>
                <a:ea typeface="Calibri"/>
                <a:cs typeface="Calibri"/>
                <a:sym typeface="Calibri"/>
              </a:rPr>
              <a:t>Monetary stats, balance, entropy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0"/>
          <p:cNvSpPr/>
          <p:nvPr/>
        </p:nvSpPr>
        <p:spPr>
          <a:xfrm>
            <a:off x="4828032" y="1078992"/>
            <a:ext cx="4005072" cy="37947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E1EE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0"/>
          <p:cNvSpPr/>
          <p:nvPr/>
        </p:nvSpPr>
        <p:spPr>
          <a:xfrm>
            <a:off x="4983480" y="1170432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A8"/>
              </a:buClr>
              <a:buSzPts val="1250"/>
              <a:buFont typeface="Calibri"/>
              <a:buNone/>
            </a:pPr>
            <a:r>
              <a:rPr b="1" i="0" lang="en" sz="1250" u="none" cap="none" strike="noStrike">
                <a:solidFill>
                  <a:srgbClr val="1A6FA8"/>
                </a:solidFill>
                <a:latin typeface="Calibri"/>
                <a:ea typeface="Calibri"/>
                <a:cs typeface="Calibri"/>
                <a:sym typeface="Calibri"/>
              </a:rPr>
              <a:t>Model Performance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0"/>
          <p:cNvSpPr/>
          <p:nvPr/>
        </p:nvSpPr>
        <p:spPr>
          <a:xfrm>
            <a:off x="4919472" y="1572768"/>
            <a:ext cx="1810512" cy="896112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D0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0"/>
          <p:cNvSpPr/>
          <p:nvPr/>
        </p:nvSpPr>
        <p:spPr>
          <a:xfrm>
            <a:off x="4919472" y="1636776"/>
            <a:ext cx="181051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9B5E"/>
              </a:buClr>
              <a:buSzPts val="2800"/>
              <a:buFont typeface="Calibri"/>
              <a:buNone/>
            </a:pPr>
            <a:r>
              <a:rPr b="1" i="0" lang="en" sz="2800" u="none" cap="none" strike="noStrike">
                <a:solidFill>
                  <a:srgbClr val="2A9B5E"/>
                </a:solidFill>
                <a:latin typeface="Calibri"/>
                <a:ea typeface="Calibri"/>
                <a:cs typeface="Calibri"/>
                <a:sym typeface="Calibri"/>
              </a:rPr>
              <a:t>0.924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0"/>
          <p:cNvSpPr/>
          <p:nvPr/>
        </p:nvSpPr>
        <p:spPr>
          <a:xfrm>
            <a:off x="4919472" y="2157984"/>
            <a:ext cx="18105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6580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4A6580"/>
                </a:solidFill>
                <a:latin typeface="Calibri"/>
                <a:ea typeface="Calibri"/>
                <a:cs typeface="Calibri"/>
                <a:sym typeface="Calibri"/>
              </a:rPr>
              <a:t>MAE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0"/>
          <p:cNvSpPr/>
          <p:nvPr/>
        </p:nvSpPr>
        <p:spPr>
          <a:xfrm>
            <a:off x="6839712" y="1572768"/>
            <a:ext cx="1810512" cy="896112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D0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0"/>
          <p:cNvSpPr/>
          <p:nvPr/>
        </p:nvSpPr>
        <p:spPr>
          <a:xfrm>
            <a:off x="6839712" y="1636776"/>
            <a:ext cx="181051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6FA8"/>
              </a:buClr>
              <a:buSzPts val="2800"/>
              <a:buFont typeface="Calibri"/>
              <a:buNone/>
            </a:pPr>
            <a:r>
              <a:rPr b="1" i="0" lang="en" sz="2800" u="none" cap="none" strike="noStrike">
                <a:solidFill>
                  <a:srgbClr val="1A6FA8"/>
                </a:solidFill>
                <a:latin typeface="Calibri"/>
                <a:ea typeface="Calibri"/>
                <a:cs typeface="Calibri"/>
                <a:sym typeface="Calibri"/>
              </a:rPr>
              <a:t>0.919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0"/>
          <p:cNvSpPr/>
          <p:nvPr/>
        </p:nvSpPr>
        <p:spPr>
          <a:xfrm>
            <a:off x="6839712" y="2157984"/>
            <a:ext cx="18105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6580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4A6580"/>
                </a:solidFill>
                <a:latin typeface="Calibri"/>
                <a:ea typeface="Calibri"/>
                <a:cs typeface="Calibri"/>
                <a:sym typeface="Calibri"/>
              </a:rPr>
              <a:t>R²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0"/>
          <p:cNvSpPr/>
          <p:nvPr/>
        </p:nvSpPr>
        <p:spPr>
          <a:xfrm>
            <a:off x="4919472" y="2578608"/>
            <a:ext cx="1810512" cy="896112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D0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0"/>
          <p:cNvSpPr/>
          <p:nvPr/>
        </p:nvSpPr>
        <p:spPr>
          <a:xfrm>
            <a:off x="4919472" y="2642616"/>
            <a:ext cx="181051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4F43"/>
              </a:buClr>
              <a:buSzPts val="2800"/>
              <a:buFont typeface="Calibri"/>
              <a:buNone/>
            </a:pPr>
            <a:r>
              <a:rPr b="1" i="0" lang="en" sz="2800" u="none" cap="none" strike="noStrike">
                <a:solidFill>
                  <a:srgbClr val="D94F43"/>
                </a:solidFill>
                <a:latin typeface="Calibri"/>
                <a:ea typeface="Calibri"/>
                <a:cs typeface="Calibri"/>
                <a:sym typeface="Calibri"/>
              </a:rPr>
              <a:t>18%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0"/>
          <p:cNvSpPr/>
          <p:nvPr/>
        </p:nvSpPr>
        <p:spPr>
          <a:xfrm>
            <a:off x="4919472" y="3163824"/>
            <a:ext cx="18105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6580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4A6580"/>
                </a:solidFill>
                <a:latin typeface="Calibri"/>
                <a:ea typeface="Calibri"/>
                <a:cs typeface="Calibri"/>
                <a:sym typeface="Calibri"/>
              </a:rPr>
              <a:t>vs Baseline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0"/>
          <p:cNvSpPr/>
          <p:nvPr/>
        </p:nvSpPr>
        <p:spPr>
          <a:xfrm>
            <a:off x="6839712" y="2578608"/>
            <a:ext cx="1810512" cy="896112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D0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20"/>
          <p:cNvSpPr/>
          <p:nvPr/>
        </p:nvSpPr>
        <p:spPr>
          <a:xfrm>
            <a:off x="6839712" y="2642616"/>
            <a:ext cx="181051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4C99"/>
              </a:buClr>
              <a:buSzPts val="2800"/>
              <a:buFont typeface="Calibri"/>
              <a:buNone/>
            </a:pPr>
            <a:r>
              <a:rPr b="1" i="0" lang="en" sz="2800" u="none" cap="none" strike="noStrike">
                <a:solidFill>
                  <a:srgbClr val="6D4C99"/>
                </a:solidFill>
                <a:latin typeface="Calibri"/>
                <a:ea typeface="Calibri"/>
                <a:cs typeface="Calibri"/>
                <a:sym typeface="Calibri"/>
              </a:rPr>
              <a:t>&lt; 1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0"/>
          <p:cNvSpPr/>
          <p:nvPr/>
        </p:nvSpPr>
        <p:spPr>
          <a:xfrm>
            <a:off x="6839712" y="3163824"/>
            <a:ext cx="18105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6580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4A6580"/>
                </a:solidFill>
                <a:latin typeface="Calibri"/>
                <a:ea typeface="Calibri"/>
                <a:cs typeface="Calibri"/>
                <a:sym typeface="Calibri"/>
              </a:rPr>
              <a:t>Avg Error (txns)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0"/>
          <p:cNvSpPr/>
          <p:nvPr/>
        </p:nvSpPr>
        <p:spPr>
          <a:xfrm>
            <a:off x="4983480" y="3657600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43A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12243A"/>
                </a:solidFill>
                <a:latin typeface="Calibri"/>
                <a:ea typeface="Calibri"/>
                <a:cs typeface="Calibri"/>
                <a:sym typeface="Calibri"/>
              </a:rPr>
              <a:t>Accuracy by Activity Segment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50" name="Google Shape;250;p20"/>
          <p:cNvGraphicFramePr/>
          <p:nvPr/>
        </p:nvGraphicFramePr>
        <p:xfrm>
          <a:off x="4919472" y="395020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{0333ED3A-DA1C-4139-8CE9-9066F44B2C3E}</a:tableStyleId>
              </a:tblPr>
              <a:tblGrid>
                <a:gridCol w="1645925"/>
                <a:gridCol w="1280150"/>
                <a:gridCol w="914400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</a:rPr>
                        <a:t>Segment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6F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</a:rPr>
                        <a:t>Customers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6F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</a:rPr>
                        <a:t>MAE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6FA8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3A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12243A"/>
                          </a:solidFill>
                        </a:rPr>
                        <a:t>Inactive (0 txns)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3A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12243A"/>
                          </a:solidFill>
                        </a:rPr>
                        <a:t>83,023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3A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12243A"/>
                          </a:solidFill>
                        </a:rPr>
                        <a:t>0.68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3A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12243A"/>
                          </a:solidFill>
                        </a:rPr>
                        <a:t>Low (1–2)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3A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12243A"/>
                          </a:solidFill>
                        </a:rPr>
                        <a:t>87,233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3A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12243A"/>
                          </a:solidFill>
                        </a:rPr>
                        <a:t>0.79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8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3A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12243A"/>
                          </a:solidFill>
                        </a:rPr>
                        <a:t>Medium (3–5)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3A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12243A"/>
                          </a:solidFill>
                        </a:rPr>
                        <a:t>20,332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3A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12243A"/>
                          </a:solidFill>
                        </a:rPr>
                        <a:t>1.23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3A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12243A"/>
                          </a:solidFill>
                        </a:rPr>
                        <a:t>High (6–10)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3A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12243A"/>
                          </a:solidFill>
                        </a:rPr>
                        <a:t>5,569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3A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12243A"/>
                          </a:solidFill>
                        </a:rPr>
                        <a:t>2.02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8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3A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12243A"/>
                          </a:solidFill>
                        </a:rPr>
                        <a:t>Very High (&gt;10)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3A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12243A"/>
                          </a:solidFill>
                        </a:rPr>
                        <a:t>3,832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3A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12243A"/>
                          </a:solidFill>
                        </a:rPr>
                        <a:t>4.50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1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1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43A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12243A"/>
                </a:solidFill>
                <a:latin typeface="Calibri"/>
                <a:ea typeface="Calibri"/>
                <a:cs typeface="Calibri"/>
                <a:sym typeface="Calibri"/>
              </a:rPr>
              <a:t>Customer Segmentation  —  5 Behavioral Archetypes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80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4A6580"/>
                </a:solidFill>
                <a:latin typeface="Calibri"/>
                <a:ea typeface="Calibri"/>
                <a:cs typeface="Calibri"/>
                <a:sym typeface="Calibri"/>
              </a:rPr>
              <a:t>K-Means  ·  25 features  ·  100K customers  ·  K=5 selected (best Davies-Bouldin: 2.20)  ·  Log-transform + StandardScaler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8" name="Google Shape;25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472" y="1005840"/>
            <a:ext cx="3931920" cy="384048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1"/>
          <p:cNvSpPr/>
          <p:nvPr/>
        </p:nvSpPr>
        <p:spPr>
          <a:xfrm>
            <a:off x="4480560" y="1024128"/>
            <a:ext cx="4434840" cy="72237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E1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1"/>
          <p:cNvSpPr/>
          <p:nvPr/>
        </p:nvSpPr>
        <p:spPr>
          <a:xfrm>
            <a:off x="4480560" y="1024128"/>
            <a:ext cx="64008" cy="722376"/>
          </a:xfrm>
          <a:prstGeom prst="rect">
            <a:avLst/>
          </a:prstGeom>
          <a:solidFill>
            <a:srgbClr val="9EC5DF"/>
          </a:solidFill>
          <a:ln cap="flat" cmpd="sng" w="12700">
            <a:solidFill>
              <a:srgbClr val="9EC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21"/>
          <p:cNvSpPr/>
          <p:nvPr/>
        </p:nvSpPr>
        <p:spPr>
          <a:xfrm>
            <a:off x="4645152" y="1088136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C5D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9EC5DF"/>
                </a:solidFill>
                <a:latin typeface="Calibri"/>
                <a:ea typeface="Calibri"/>
                <a:cs typeface="Calibri"/>
                <a:sym typeface="Calibri"/>
              </a:rPr>
              <a:t>Budget Casual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1"/>
          <p:cNvSpPr/>
          <p:nvPr/>
        </p:nvSpPr>
        <p:spPr>
          <a:xfrm>
            <a:off x="4645152" y="1371600"/>
            <a:ext cx="2103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80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4A6580"/>
                </a:solidFill>
                <a:latin typeface="Calibri"/>
                <a:ea typeface="Calibri"/>
                <a:cs typeface="Calibri"/>
                <a:sym typeface="Calibri"/>
              </a:rPr>
              <a:t>27,505 (27.5%)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1"/>
          <p:cNvSpPr/>
          <p:nvPr/>
        </p:nvSpPr>
        <p:spPr>
          <a:xfrm>
            <a:off x="6812280" y="1088136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2243A"/>
              </a:buClr>
              <a:buSzPts val="1050"/>
              <a:buFont typeface="Calibri"/>
              <a:buNone/>
            </a:pPr>
            <a:r>
              <a:rPr b="1" i="0" lang="en" sz="1050" u="none" cap="none" strike="noStrike">
                <a:solidFill>
                  <a:srgbClr val="12243A"/>
                </a:solidFill>
                <a:latin typeface="Calibri"/>
                <a:ea typeface="Calibri"/>
                <a:cs typeface="Calibri"/>
                <a:sym typeface="Calibri"/>
              </a:rPr>
              <a:t>~13 txns/yr · ₦29K avg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1"/>
          <p:cNvSpPr/>
          <p:nvPr/>
        </p:nvSpPr>
        <p:spPr>
          <a:xfrm>
            <a:off x="6812280" y="1371600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A6580"/>
              </a:buClr>
              <a:buSzPts val="1000"/>
              <a:buFont typeface="Calibri"/>
              <a:buNone/>
            </a:pPr>
            <a:r>
              <a:rPr b="0" i="1" lang="en" sz="1000" u="none" cap="none" strike="noStrike">
                <a:solidFill>
                  <a:srgbClr val="4A6580"/>
                </a:solidFill>
                <a:latin typeface="Calibri"/>
                <a:ea typeface="Calibri"/>
                <a:cs typeface="Calibri"/>
                <a:sym typeface="Calibri"/>
              </a:rPr>
              <a:t>8% failure rate · High friction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1"/>
          <p:cNvSpPr/>
          <p:nvPr/>
        </p:nvSpPr>
        <p:spPr>
          <a:xfrm>
            <a:off x="4480560" y="1837944"/>
            <a:ext cx="4434840" cy="72237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E1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1"/>
          <p:cNvSpPr/>
          <p:nvPr/>
        </p:nvSpPr>
        <p:spPr>
          <a:xfrm>
            <a:off x="4480560" y="1837944"/>
            <a:ext cx="64008" cy="722376"/>
          </a:xfrm>
          <a:prstGeom prst="rect">
            <a:avLst/>
          </a:prstGeom>
          <a:solidFill>
            <a:srgbClr val="1A6FA8"/>
          </a:solidFill>
          <a:ln cap="flat" cmpd="sng" w="12700">
            <a:solidFill>
              <a:srgbClr val="1A6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21"/>
          <p:cNvSpPr/>
          <p:nvPr/>
        </p:nvSpPr>
        <p:spPr>
          <a:xfrm>
            <a:off x="4645152" y="1901952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A8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1A6FA8"/>
                </a:solidFill>
                <a:latin typeface="Calibri"/>
                <a:ea typeface="Calibri"/>
                <a:cs typeface="Calibri"/>
                <a:sym typeface="Calibri"/>
              </a:rPr>
              <a:t>High-Value Infrequent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1"/>
          <p:cNvSpPr/>
          <p:nvPr/>
        </p:nvSpPr>
        <p:spPr>
          <a:xfrm>
            <a:off x="4645152" y="2185416"/>
            <a:ext cx="2103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80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4A6580"/>
                </a:solidFill>
                <a:latin typeface="Calibri"/>
                <a:ea typeface="Calibri"/>
                <a:cs typeface="Calibri"/>
                <a:sym typeface="Calibri"/>
              </a:rPr>
              <a:t>23,649 (23.6%)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1"/>
          <p:cNvSpPr/>
          <p:nvPr/>
        </p:nvSpPr>
        <p:spPr>
          <a:xfrm>
            <a:off x="6812280" y="1901952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2243A"/>
              </a:buClr>
              <a:buSzPts val="1050"/>
              <a:buFont typeface="Calibri"/>
              <a:buNone/>
            </a:pPr>
            <a:r>
              <a:rPr b="1" i="0" lang="en" sz="1050" u="none" cap="none" strike="noStrike">
                <a:solidFill>
                  <a:srgbClr val="12243A"/>
                </a:solidFill>
                <a:latin typeface="Calibri"/>
                <a:ea typeface="Calibri"/>
                <a:cs typeface="Calibri"/>
                <a:sym typeface="Calibri"/>
              </a:rPr>
              <a:t>~14 txns/yr · ₦114K avg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1"/>
          <p:cNvSpPr/>
          <p:nvPr/>
        </p:nvSpPr>
        <p:spPr>
          <a:xfrm>
            <a:off x="6812280" y="2185416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A6580"/>
              </a:buClr>
              <a:buSzPts val="1000"/>
              <a:buFont typeface="Calibri"/>
              <a:buNone/>
            </a:pPr>
            <a:r>
              <a:rPr b="0" i="1" lang="en" sz="1000" u="none" cap="none" strike="noStrike">
                <a:solidFill>
                  <a:srgbClr val="4A6580"/>
                </a:solidFill>
                <a:latin typeface="Calibri"/>
                <a:ea typeface="Calibri"/>
                <a:cs typeface="Calibri"/>
                <a:sym typeface="Calibri"/>
              </a:rPr>
              <a:t>4× transaction size · Strategic priority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1"/>
          <p:cNvSpPr/>
          <p:nvPr/>
        </p:nvSpPr>
        <p:spPr>
          <a:xfrm>
            <a:off x="4480560" y="2651760"/>
            <a:ext cx="4434840" cy="72237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E1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21"/>
          <p:cNvSpPr/>
          <p:nvPr/>
        </p:nvSpPr>
        <p:spPr>
          <a:xfrm>
            <a:off x="4480560" y="2651760"/>
            <a:ext cx="64008" cy="722376"/>
          </a:xfrm>
          <a:prstGeom prst="rect">
            <a:avLst/>
          </a:prstGeom>
          <a:solidFill>
            <a:srgbClr val="2A9B5E"/>
          </a:solidFill>
          <a:ln cap="flat" cmpd="sng" w="12700">
            <a:solidFill>
              <a:srgbClr val="2A9B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1"/>
          <p:cNvSpPr/>
          <p:nvPr/>
        </p:nvSpPr>
        <p:spPr>
          <a:xfrm>
            <a:off x="4645152" y="2715768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9B5E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2A9B5E"/>
                </a:solidFill>
                <a:latin typeface="Calibri"/>
                <a:ea typeface="Calibri"/>
                <a:cs typeface="Calibri"/>
                <a:sym typeface="Calibri"/>
              </a:rPr>
              <a:t>Engaged Regular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1"/>
          <p:cNvSpPr/>
          <p:nvPr/>
        </p:nvSpPr>
        <p:spPr>
          <a:xfrm>
            <a:off x="4645152" y="2999232"/>
            <a:ext cx="2103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80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4A6580"/>
                </a:solidFill>
                <a:latin typeface="Calibri"/>
                <a:ea typeface="Calibri"/>
                <a:cs typeface="Calibri"/>
                <a:sym typeface="Calibri"/>
              </a:rPr>
              <a:t>2,259  (2.3%)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1"/>
          <p:cNvSpPr/>
          <p:nvPr/>
        </p:nvSpPr>
        <p:spPr>
          <a:xfrm>
            <a:off x="6812280" y="2715768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2243A"/>
              </a:buClr>
              <a:buSzPts val="1050"/>
              <a:buFont typeface="Calibri"/>
              <a:buNone/>
            </a:pPr>
            <a:r>
              <a:rPr b="1" i="0" lang="en" sz="1050" u="none" cap="none" strike="noStrike">
                <a:solidFill>
                  <a:srgbClr val="12243A"/>
                </a:solidFill>
                <a:latin typeface="Calibri"/>
                <a:ea typeface="Calibri"/>
                <a:cs typeface="Calibri"/>
                <a:sym typeface="Calibri"/>
              </a:rPr>
              <a:t>~17 txns/yr · ₦66K avg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1"/>
          <p:cNvSpPr/>
          <p:nvPr/>
        </p:nvSpPr>
        <p:spPr>
          <a:xfrm>
            <a:off x="6812280" y="2999232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A6580"/>
              </a:buClr>
              <a:buSzPts val="1000"/>
              <a:buFont typeface="Calibri"/>
              <a:buNone/>
            </a:pPr>
            <a:r>
              <a:rPr b="0" i="1" lang="en" sz="1000" u="none" cap="none" strike="noStrike">
                <a:solidFill>
                  <a:srgbClr val="4A6580"/>
                </a:solidFill>
                <a:latin typeface="Calibri"/>
                <a:ea typeface="Calibri"/>
                <a:cs typeface="Calibri"/>
                <a:sym typeface="Calibri"/>
              </a:rPr>
              <a:t>6.1% reversal rate · Investigate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1"/>
          <p:cNvSpPr/>
          <p:nvPr/>
        </p:nvSpPr>
        <p:spPr>
          <a:xfrm>
            <a:off x="4480560" y="3465576"/>
            <a:ext cx="4434840" cy="72237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E1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1"/>
          <p:cNvSpPr/>
          <p:nvPr/>
        </p:nvSpPr>
        <p:spPr>
          <a:xfrm>
            <a:off x="4480560" y="3465576"/>
            <a:ext cx="64008" cy="722376"/>
          </a:xfrm>
          <a:prstGeom prst="rect">
            <a:avLst/>
          </a:prstGeom>
          <a:solidFill>
            <a:srgbClr val="1C7293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1"/>
          <p:cNvSpPr/>
          <p:nvPr/>
        </p:nvSpPr>
        <p:spPr>
          <a:xfrm>
            <a:off x="4645152" y="3529584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Active Core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1"/>
          <p:cNvSpPr/>
          <p:nvPr/>
        </p:nvSpPr>
        <p:spPr>
          <a:xfrm>
            <a:off x="4645152" y="3813048"/>
            <a:ext cx="2103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80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4A6580"/>
                </a:solidFill>
                <a:latin typeface="Calibri"/>
                <a:ea typeface="Calibri"/>
                <a:cs typeface="Calibri"/>
                <a:sym typeface="Calibri"/>
              </a:rPr>
              <a:t>38,905 (38.9%)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1"/>
          <p:cNvSpPr/>
          <p:nvPr/>
        </p:nvSpPr>
        <p:spPr>
          <a:xfrm>
            <a:off x="6812280" y="3529584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2243A"/>
              </a:buClr>
              <a:buSzPts val="1050"/>
              <a:buFont typeface="Calibri"/>
              <a:buNone/>
            </a:pPr>
            <a:r>
              <a:rPr b="1" i="0" lang="en" sz="1050" u="none" cap="none" strike="noStrike">
                <a:solidFill>
                  <a:srgbClr val="12243A"/>
                </a:solidFill>
                <a:latin typeface="Calibri"/>
                <a:ea typeface="Calibri"/>
                <a:cs typeface="Calibri"/>
                <a:sym typeface="Calibri"/>
              </a:rPr>
              <a:t>~34 txns/yr · ₦62K avg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1"/>
          <p:cNvSpPr/>
          <p:nvPr/>
        </p:nvSpPr>
        <p:spPr>
          <a:xfrm>
            <a:off x="6812280" y="3813048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A6580"/>
              </a:buClr>
              <a:buSzPts val="1000"/>
              <a:buFont typeface="Calibri"/>
              <a:buNone/>
            </a:pPr>
            <a:r>
              <a:rPr b="0" i="1" lang="en" sz="1000" u="none" cap="none" strike="noStrike">
                <a:solidFill>
                  <a:srgbClr val="4A6580"/>
                </a:solidFill>
                <a:latin typeface="Calibri"/>
                <a:ea typeface="Calibri"/>
                <a:cs typeface="Calibri"/>
                <a:sym typeface="Calibri"/>
              </a:rPr>
              <a:t>Highest growth trend (+0.42)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1"/>
          <p:cNvSpPr/>
          <p:nvPr/>
        </p:nvSpPr>
        <p:spPr>
          <a:xfrm>
            <a:off x="4480560" y="4279392"/>
            <a:ext cx="4434840" cy="72237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E1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21"/>
          <p:cNvSpPr/>
          <p:nvPr/>
        </p:nvSpPr>
        <p:spPr>
          <a:xfrm>
            <a:off x="4480560" y="4279392"/>
            <a:ext cx="64008" cy="722376"/>
          </a:xfrm>
          <a:prstGeom prst="rect">
            <a:avLst/>
          </a:prstGeom>
          <a:solidFill>
            <a:srgbClr val="D94F43"/>
          </a:solidFill>
          <a:ln cap="flat" cmpd="sng" w="12700">
            <a:solidFill>
              <a:srgbClr val="D94F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21"/>
          <p:cNvSpPr/>
          <p:nvPr/>
        </p:nvSpPr>
        <p:spPr>
          <a:xfrm>
            <a:off x="4645152" y="4343400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4F43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D94F43"/>
                </a:solidFill>
                <a:latin typeface="Calibri"/>
                <a:ea typeface="Calibri"/>
                <a:cs typeface="Calibri"/>
                <a:sym typeface="Calibri"/>
              </a:rPr>
              <a:t>Power Users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1"/>
          <p:cNvSpPr/>
          <p:nvPr/>
        </p:nvSpPr>
        <p:spPr>
          <a:xfrm>
            <a:off x="4645152" y="4626864"/>
            <a:ext cx="2103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80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4A6580"/>
                </a:solidFill>
                <a:latin typeface="Calibri"/>
                <a:ea typeface="Calibri"/>
                <a:cs typeface="Calibri"/>
                <a:sym typeface="Calibri"/>
              </a:rPr>
              <a:t>7,682  (7.7%)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1"/>
          <p:cNvSpPr/>
          <p:nvPr/>
        </p:nvSpPr>
        <p:spPr>
          <a:xfrm>
            <a:off x="6812280" y="4343400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2243A"/>
              </a:buClr>
              <a:buSzPts val="1050"/>
              <a:buFont typeface="Calibri"/>
              <a:buNone/>
            </a:pPr>
            <a:r>
              <a:rPr b="1" i="0" lang="en" sz="1050" u="none" cap="none" strike="noStrike">
                <a:solidFill>
                  <a:srgbClr val="12243A"/>
                </a:solidFill>
                <a:latin typeface="Calibri"/>
                <a:ea typeface="Calibri"/>
                <a:cs typeface="Calibri"/>
                <a:sym typeface="Calibri"/>
              </a:rPr>
              <a:t>~335 txns/yr · ₦67K avg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1"/>
          <p:cNvSpPr/>
          <p:nvPr/>
        </p:nvSpPr>
        <p:spPr>
          <a:xfrm>
            <a:off x="6812280" y="4626864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A6580"/>
              </a:buClr>
              <a:buSzPts val="1000"/>
              <a:buFont typeface="Calibri"/>
              <a:buNone/>
            </a:pPr>
            <a:r>
              <a:rPr b="0" i="1" lang="en" sz="1000" u="none" cap="none" strike="noStrike">
                <a:solidFill>
                  <a:srgbClr val="4A6580"/>
                </a:solidFill>
                <a:latin typeface="Calibri"/>
                <a:ea typeface="Calibri"/>
                <a:cs typeface="Calibri"/>
                <a:sym typeface="Calibri"/>
              </a:rPr>
              <a:t>Business/automated · All channels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2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43A"/>
              </a:buClr>
              <a:buSzPts val="2800"/>
              <a:buFont typeface="Calibri"/>
              <a:buNone/>
            </a:pPr>
            <a:r>
              <a:rPr b="1" i="0" lang="en" sz="2800" u="none" cap="none" strike="noStrike">
                <a:solidFill>
                  <a:srgbClr val="12243A"/>
                </a:solidFill>
                <a:latin typeface="Calibri"/>
                <a:ea typeface="Calibri"/>
                <a:cs typeface="Calibri"/>
                <a:sym typeface="Calibri"/>
              </a:rPr>
              <a:t>Key Insights &amp; Strategic Implications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2"/>
          <p:cNvSpPr/>
          <p:nvPr/>
        </p:nvSpPr>
        <p:spPr>
          <a:xfrm>
            <a:off x="411480" y="960120"/>
            <a:ext cx="2651760" cy="17556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E1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22"/>
          <p:cNvSpPr/>
          <p:nvPr/>
        </p:nvSpPr>
        <p:spPr>
          <a:xfrm>
            <a:off x="411480" y="960120"/>
            <a:ext cx="2651760" cy="64008"/>
          </a:xfrm>
          <a:prstGeom prst="rect">
            <a:avLst/>
          </a:prstGeom>
          <a:solidFill>
            <a:srgbClr val="1A6FA8"/>
          </a:solidFill>
          <a:ln cap="flat" cmpd="sng" w="12700">
            <a:solidFill>
              <a:srgbClr val="1A6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22"/>
          <p:cNvSpPr/>
          <p:nvPr/>
        </p:nvSpPr>
        <p:spPr>
          <a:xfrm>
            <a:off x="521208" y="1106424"/>
            <a:ext cx="548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A8"/>
              </a:buClr>
              <a:buSzPts val="2200"/>
              <a:buFont typeface="Calibri"/>
              <a:buNone/>
            </a:pPr>
            <a:r>
              <a:rPr b="1" i="0" lang="en" sz="2200" u="none" cap="none" strike="noStrike">
                <a:solidFill>
                  <a:srgbClr val="1A6FA8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2"/>
          <p:cNvSpPr/>
          <p:nvPr/>
        </p:nvSpPr>
        <p:spPr>
          <a:xfrm>
            <a:off x="521208" y="1472184"/>
            <a:ext cx="24323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43A"/>
              </a:buClr>
              <a:buSzPts val="1150"/>
              <a:buFont typeface="Calibri"/>
              <a:buNone/>
            </a:pPr>
            <a:r>
              <a:rPr b="1" i="0" lang="en" sz="1150" u="none" cap="none" strike="noStrike">
                <a:solidFill>
                  <a:srgbClr val="12243A"/>
                </a:solidFill>
                <a:latin typeface="Calibri"/>
                <a:ea typeface="Calibri"/>
                <a:cs typeface="Calibri"/>
                <a:sym typeface="Calibri"/>
              </a:rPr>
              <a:t>Frequency Over Value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2"/>
          <p:cNvSpPr/>
          <p:nvPr/>
        </p:nvSpPr>
        <p:spPr>
          <a:xfrm>
            <a:off x="521208" y="1847088"/>
            <a:ext cx="2432304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80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4A6580"/>
                </a:solidFill>
                <a:latin typeface="Calibri"/>
                <a:ea typeface="Calibri"/>
                <a:cs typeface="Calibri"/>
                <a:sym typeface="Calibri"/>
              </a:rPr>
              <a:t>Count is the #1 predictor of future behavior — beats all monetary features. Engagement dashboards should lead with transaction frequency, not spend.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2"/>
          <p:cNvSpPr/>
          <p:nvPr/>
        </p:nvSpPr>
        <p:spPr>
          <a:xfrm>
            <a:off x="3246120" y="960120"/>
            <a:ext cx="2651760" cy="17556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E1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22"/>
          <p:cNvSpPr/>
          <p:nvPr/>
        </p:nvSpPr>
        <p:spPr>
          <a:xfrm>
            <a:off x="3246120" y="960120"/>
            <a:ext cx="2651760" cy="64008"/>
          </a:xfrm>
          <a:prstGeom prst="rect">
            <a:avLst/>
          </a:prstGeom>
          <a:solidFill>
            <a:srgbClr val="D94F43"/>
          </a:solidFill>
          <a:ln cap="flat" cmpd="sng" w="12700">
            <a:solidFill>
              <a:srgbClr val="D94F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22"/>
          <p:cNvSpPr/>
          <p:nvPr/>
        </p:nvSpPr>
        <p:spPr>
          <a:xfrm>
            <a:off x="3355848" y="1106424"/>
            <a:ext cx="548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4F43"/>
              </a:buClr>
              <a:buSzPts val="2200"/>
              <a:buFont typeface="Calibri"/>
              <a:buNone/>
            </a:pPr>
            <a:r>
              <a:rPr b="1" i="0" lang="en" sz="2200" u="none" cap="none" strike="noStrike">
                <a:solidFill>
                  <a:srgbClr val="D94F43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2"/>
          <p:cNvSpPr/>
          <p:nvPr/>
        </p:nvSpPr>
        <p:spPr>
          <a:xfrm>
            <a:off x="3355848" y="1472184"/>
            <a:ext cx="24323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43A"/>
              </a:buClr>
              <a:buSzPts val="1150"/>
              <a:buFont typeface="Calibri"/>
              <a:buNone/>
            </a:pPr>
            <a:r>
              <a:rPr b="1" i="0" lang="en" sz="1150" u="none" cap="none" strike="noStrike">
                <a:solidFill>
                  <a:srgbClr val="12243A"/>
                </a:solidFill>
                <a:latin typeface="Calibri"/>
                <a:ea typeface="Calibri"/>
                <a:cs typeface="Calibri"/>
                <a:sym typeface="Calibri"/>
              </a:rPr>
              <a:t>Hidden Revenue Segment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2"/>
          <p:cNvSpPr/>
          <p:nvPr/>
        </p:nvSpPr>
        <p:spPr>
          <a:xfrm>
            <a:off x="3355848" y="1847088"/>
            <a:ext cx="2432304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80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4A6580"/>
                </a:solidFill>
                <a:latin typeface="Calibri"/>
                <a:ea typeface="Calibri"/>
                <a:cs typeface="Calibri"/>
                <a:sym typeface="Calibri"/>
              </a:rPr>
              <a:t>High-Value Infrequent customers (23.6%) make 4× larger transactions than Budget Casual yet have identical engagement metrics. Standard KPIs miss them entirely.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2"/>
          <p:cNvSpPr/>
          <p:nvPr/>
        </p:nvSpPr>
        <p:spPr>
          <a:xfrm>
            <a:off x="6080760" y="960120"/>
            <a:ext cx="2651760" cy="17556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E1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22"/>
          <p:cNvSpPr/>
          <p:nvPr/>
        </p:nvSpPr>
        <p:spPr>
          <a:xfrm>
            <a:off x="6080760" y="960120"/>
            <a:ext cx="2651760" cy="64008"/>
          </a:xfrm>
          <a:prstGeom prst="rect">
            <a:avLst/>
          </a:prstGeom>
          <a:solidFill>
            <a:srgbClr val="2A9B5E"/>
          </a:solidFill>
          <a:ln cap="flat" cmpd="sng" w="12700">
            <a:solidFill>
              <a:srgbClr val="2A9B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22"/>
          <p:cNvSpPr/>
          <p:nvPr/>
        </p:nvSpPr>
        <p:spPr>
          <a:xfrm>
            <a:off x="6190488" y="1106424"/>
            <a:ext cx="548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9B5E"/>
              </a:buClr>
              <a:buSzPts val="2200"/>
              <a:buFont typeface="Calibri"/>
              <a:buNone/>
            </a:pPr>
            <a:r>
              <a:rPr b="1" i="0" lang="en" sz="2200" u="none" cap="none" strike="noStrike">
                <a:solidFill>
                  <a:srgbClr val="2A9B5E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2"/>
          <p:cNvSpPr/>
          <p:nvPr/>
        </p:nvSpPr>
        <p:spPr>
          <a:xfrm>
            <a:off x="6190488" y="1472184"/>
            <a:ext cx="24323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43A"/>
              </a:buClr>
              <a:buSzPts val="1150"/>
              <a:buFont typeface="Calibri"/>
              <a:buNone/>
            </a:pPr>
            <a:r>
              <a:rPr b="1" i="0" lang="en" sz="1150" u="none" cap="none" strike="noStrike">
                <a:solidFill>
                  <a:srgbClr val="12243A"/>
                </a:solidFill>
                <a:latin typeface="Calibri"/>
                <a:ea typeface="Calibri"/>
                <a:cs typeface="Calibri"/>
                <a:sym typeface="Calibri"/>
              </a:rPr>
              <a:t>Rolling Averages Beat Lags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2"/>
          <p:cNvSpPr/>
          <p:nvPr/>
        </p:nvSpPr>
        <p:spPr>
          <a:xfrm>
            <a:off x="6190488" y="1847088"/>
            <a:ext cx="2432304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80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4A6580"/>
                </a:solidFill>
                <a:latin typeface="Calibri"/>
                <a:ea typeface="Calibri"/>
                <a:cs typeface="Calibri"/>
                <a:sym typeface="Calibri"/>
              </a:rPr>
              <a:t>The 6-month rolling average outranks last month's raw count as the top time-series feature. Trajectory matters more than the most recent snapshot.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2"/>
          <p:cNvSpPr/>
          <p:nvPr/>
        </p:nvSpPr>
        <p:spPr>
          <a:xfrm>
            <a:off x="411480" y="2916936"/>
            <a:ext cx="2651760" cy="17556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E1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2"/>
          <p:cNvSpPr/>
          <p:nvPr/>
        </p:nvSpPr>
        <p:spPr>
          <a:xfrm>
            <a:off x="411480" y="2916936"/>
            <a:ext cx="2651760" cy="64008"/>
          </a:xfrm>
          <a:prstGeom prst="rect">
            <a:avLst/>
          </a:prstGeom>
          <a:solidFill>
            <a:srgbClr val="6D4C99"/>
          </a:solidFill>
          <a:ln cap="flat" cmpd="sng" w="12700">
            <a:solidFill>
              <a:srgbClr val="6D4C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22"/>
          <p:cNvSpPr/>
          <p:nvPr/>
        </p:nvSpPr>
        <p:spPr>
          <a:xfrm>
            <a:off x="521208" y="3063240"/>
            <a:ext cx="548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4C99"/>
              </a:buClr>
              <a:buSzPts val="2200"/>
              <a:buFont typeface="Calibri"/>
              <a:buNone/>
            </a:pPr>
            <a:r>
              <a:rPr b="1" i="0" lang="en" sz="2200" u="none" cap="none" strike="noStrike">
                <a:solidFill>
                  <a:srgbClr val="6D4C99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2"/>
          <p:cNvSpPr/>
          <p:nvPr/>
        </p:nvSpPr>
        <p:spPr>
          <a:xfrm>
            <a:off x="521208" y="3429000"/>
            <a:ext cx="24323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43A"/>
              </a:buClr>
              <a:buSzPts val="1150"/>
              <a:buFont typeface="Calibri"/>
              <a:buNone/>
            </a:pPr>
            <a:r>
              <a:rPr b="1" i="0" lang="en" sz="1150" u="none" cap="none" strike="noStrike">
                <a:solidFill>
                  <a:srgbClr val="12243A"/>
                </a:solidFill>
                <a:latin typeface="Calibri"/>
                <a:ea typeface="Calibri"/>
                <a:cs typeface="Calibri"/>
                <a:sym typeface="Calibri"/>
              </a:rPr>
              <a:t>Friction Predicts Churn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2"/>
          <p:cNvSpPr/>
          <p:nvPr/>
        </p:nvSpPr>
        <p:spPr>
          <a:xfrm>
            <a:off x="521208" y="3803904"/>
            <a:ext cx="2432304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80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4A6580"/>
                </a:solidFill>
                <a:latin typeface="Calibri"/>
                <a:ea typeface="Calibri"/>
                <a:cs typeface="Calibri"/>
                <a:sym typeface="Calibri"/>
              </a:rPr>
              <a:t>Failed and reversed transactions concentrate in the least-engaged segments. It is a reinforcing cycle: friction leads to fewer transactions, which leads to more failures.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2"/>
          <p:cNvSpPr/>
          <p:nvPr/>
        </p:nvSpPr>
        <p:spPr>
          <a:xfrm>
            <a:off x="3246120" y="2916936"/>
            <a:ext cx="2651760" cy="17556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E1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22"/>
          <p:cNvSpPr/>
          <p:nvPr/>
        </p:nvSpPr>
        <p:spPr>
          <a:xfrm>
            <a:off x="3246120" y="2916936"/>
            <a:ext cx="2651760" cy="64008"/>
          </a:xfrm>
          <a:prstGeom prst="rect">
            <a:avLst/>
          </a:prstGeom>
          <a:solidFill>
            <a:srgbClr val="C47A1E"/>
          </a:solidFill>
          <a:ln cap="flat" cmpd="sng" w="12700">
            <a:solidFill>
              <a:srgbClr val="C47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22"/>
          <p:cNvSpPr/>
          <p:nvPr/>
        </p:nvSpPr>
        <p:spPr>
          <a:xfrm>
            <a:off x="3355848" y="3063240"/>
            <a:ext cx="548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7A1E"/>
              </a:buClr>
              <a:buSzPts val="2200"/>
              <a:buFont typeface="Calibri"/>
              <a:buNone/>
            </a:pPr>
            <a:r>
              <a:rPr b="1" i="0" lang="en" sz="2200" u="none" cap="none" strike="noStrike">
                <a:solidFill>
                  <a:srgbClr val="C47A1E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2"/>
          <p:cNvSpPr/>
          <p:nvPr/>
        </p:nvSpPr>
        <p:spPr>
          <a:xfrm>
            <a:off x="3355848" y="3429000"/>
            <a:ext cx="24323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43A"/>
              </a:buClr>
              <a:buSzPts val="1150"/>
              <a:buFont typeface="Calibri"/>
              <a:buNone/>
            </a:pPr>
            <a:r>
              <a:rPr b="1" i="0" lang="en" sz="1150" u="none" cap="none" strike="noStrike">
                <a:solidFill>
                  <a:srgbClr val="12243A"/>
                </a:solidFill>
                <a:latin typeface="Calibri"/>
                <a:ea typeface="Calibri"/>
                <a:cs typeface="Calibri"/>
                <a:sym typeface="Calibri"/>
              </a:rPr>
              <a:t>Power Users Are Different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2"/>
          <p:cNvSpPr/>
          <p:nvPr/>
        </p:nvSpPr>
        <p:spPr>
          <a:xfrm>
            <a:off x="3355848" y="3803904"/>
            <a:ext cx="2432304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80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4A6580"/>
                </a:solidFill>
                <a:latin typeface="Calibri"/>
                <a:ea typeface="Calibri"/>
                <a:cs typeface="Calibri"/>
                <a:sym typeface="Calibri"/>
              </a:rPr>
              <a:t>Even day-of-week distribution (entropy 2.78) and all-channel usage suggest business or automated accounts — requiring enterprise tools, API access, and SLA guarantees.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2"/>
          <p:cNvSpPr/>
          <p:nvPr/>
        </p:nvSpPr>
        <p:spPr>
          <a:xfrm>
            <a:off x="6080760" y="2916936"/>
            <a:ext cx="2651760" cy="17556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E1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22"/>
          <p:cNvSpPr/>
          <p:nvPr/>
        </p:nvSpPr>
        <p:spPr>
          <a:xfrm>
            <a:off x="6080760" y="2916936"/>
            <a:ext cx="2651760" cy="64008"/>
          </a:xfrm>
          <a:prstGeom prst="rect">
            <a:avLst/>
          </a:prstGeom>
          <a:solidFill>
            <a:srgbClr val="1C7293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22"/>
          <p:cNvSpPr/>
          <p:nvPr/>
        </p:nvSpPr>
        <p:spPr>
          <a:xfrm>
            <a:off x="6190488" y="3063240"/>
            <a:ext cx="548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2200"/>
              <a:buFont typeface="Calibri"/>
              <a:buNone/>
            </a:pPr>
            <a:r>
              <a:rPr b="1" i="0" lang="en" sz="2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2"/>
          <p:cNvSpPr/>
          <p:nvPr/>
        </p:nvSpPr>
        <p:spPr>
          <a:xfrm>
            <a:off x="6190488" y="3429000"/>
            <a:ext cx="24323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43A"/>
              </a:buClr>
              <a:buSzPts val="1150"/>
              <a:buFont typeface="Calibri"/>
              <a:buNone/>
            </a:pPr>
            <a:r>
              <a:rPr b="1" i="0" lang="en" sz="1150" u="none" cap="none" strike="noStrike">
                <a:solidFill>
                  <a:srgbClr val="12243A"/>
                </a:solidFill>
                <a:latin typeface="Calibri"/>
                <a:ea typeface="Calibri"/>
                <a:cs typeface="Calibri"/>
                <a:sym typeface="Calibri"/>
              </a:rPr>
              <a:t>The Missing Middle Problem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2"/>
          <p:cNvSpPr/>
          <p:nvPr/>
        </p:nvSpPr>
        <p:spPr>
          <a:xfrm>
            <a:off x="6190488" y="3803904"/>
            <a:ext cx="2432304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80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4A6580"/>
                </a:solidFill>
                <a:latin typeface="Calibri"/>
                <a:ea typeface="Calibri"/>
                <a:cs typeface="Calibri"/>
                <a:sym typeface="Calibri"/>
              </a:rPr>
              <a:t>Only 2.3% of customers sit in the transition segment. The path from casual to active is binary — structural habits like auto-debits, not incremental nudges, are needed.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243A"/>
        </a:solid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3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6FA8"/>
          </a:solidFill>
          <a:ln cap="flat" cmpd="sng" w="12700">
            <a:solidFill>
              <a:srgbClr val="1A6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23"/>
          <p:cNvSpPr/>
          <p:nvPr/>
        </p:nvSpPr>
        <p:spPr>
          <a:xfrm>
            <a:off x="658368" y="914400"/>
            <a:ext cx="64008" cy="777240"/>
          </a:xfrm>
          <a:prstGeom prst="rect">
            <a:avLst/>
          </a:prstGeom>
          <a:solidFill>
            <a:srgbClr val="D94F43"/>
          </a:solidFill>
          <a:ln cap="flat" cmpd="sng" w="12700">
            <a:solidFill>
              <a:srgbClr val="D94F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23"/>
          <p:cNvSpPr/>
          <p:nvPr/>
        </p:nvSpPr>
        <p:spPr>
          <a:xfrm>
            <a:off x="841248" y="868680"/>
            <a:ext cx="7772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We Delivered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3"/>
          <p:cNvSpPr/>
          <p:nvPr/>
        </p:nvSpPr>
        <p:spPr>
          <a:xfrm>
            <a:off x="658368" y="1673352"/>
            <a:ext cx="457200" cy="457200"/>
          </a:xfrm>
          <a:prstGeom prst="rect">
            <a:avLst/>
          </a:prstGeom>
          <a:solidFill>
            <a:srgbClr val="1A6FA8"/>
          </a:solidFill>
          <a:ln cap="flat" cmpd="sng" w="12700">
            <a:solidFill>
              <a:srgbClr val="1A6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23"/>
          <p:cNvSpPr/>
          <p:nvPr/>
        </p:nvSpPr>
        <p:spPr>
          <a:xfrm>
            <a:off x="658368" y="167335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3"/>
          <p:cNvSpPr/>
          <p:nvPr/>
        </p:nvSpPr>
        <p:spPr>
          <a:xfrm>
            <a:off x="1243584" y="1673352"/>
            <a:ext cx="7589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Clean 5M-Row Dataset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3"/>
          <p:cNvSpPr/>
          <p:nvPr/>
        </p:nvSpPr>
        <p:spPr>
          <a:xfrm>
            <a:off x="1243584" y="1929384"/>
            <a:ext cx="7589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BBD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8AABBD"/>
                </a:solidFill>
                <a:latin typeface="Calibri"/>
                <a:ea typeface="Calibri"/>
                <a:cs typeface="Calibri"/>
                <a:sym typeface="Calibri"/>
              </a:rPr>
              <a:t>Validated, deduplicated, standardised + 24 engineered columns ready for modeling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3"/>
          <p:cNvSpPr/>
          <p:nvPr/>
        </p:nvSpPr>
        <p:spPr>
          <a:xfrm>
            <a:off x="658368" y="2423160"/>
            <a:ext cx="457200" cy="457200"/>
          </a:xfrm>
          <a:prstGeom prst="rect">
            <a:avLst/>
          </a:prstGeom>
          <a:solidFill>
            <a:srgbClr val="1C7293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23"/>
          <p:cNvSpPr/>
          <p:nvPr/>
        </p:nvSpPr>
        <p:spPr>
          <a:xfrm>
            <a:off x="658368" y="24231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3"/>
          <p:cNvSpPr/>
          <p:nvPr/>
        </p:nvSpPr>
        <p:spPr>
          <a:xfrm>
            <a:off x="1243584" y="2423160"/>
            <a:ext cx="7589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70 Behavioral Features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3"/>
          <p:cNvSpPr/>
          <p:nvPr/>
        </p:nvSpPr>
        <p:spPr>
          <a:xfrm>
            <a:off x="1243584" y="2679192"/>
            <a:ext cx="7589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BBD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8AABBD"/>
                </a:solidFill>
                <a:latin typeface="Calibri"/>
                <a:ea typeface="Calibri"/>
                <a:cs typeface="Calibri"/>
                <a:sym typeface="Calibri"/>
              </a:rPr>
              <a:t>RFM, channel, temporal, status, balance, geography, merchant, trends across 100K customers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3"/>
          <p:cNvSpPr/>
          <p:nvPr/>
        </p:nvSpPr>
        <p:spPr>
          <a:xfrm>
            <a:off x="658368" y="3172968"/>
            <a:ext cx="457200" cy="457200"/>
          </a:xfrm>
          <a:prstGeom prst="rect">
            <a:avLst/>
          </a:prstGeom>
          <a:solidFill>
            <a:srgbClr val="2A9B5E"/>
          </a:solidFill>
          <a:ln cap="flat" cmpd="sng" w="12700">
            <a:solidFill>
              <a:srgbClr val="2A9B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23"/>
          <p:cNvSpPr/>
          <p:nvPr/>
        </p:nvSpPr>
        <p:spPr>
          <a:xfrm>
            <a:off x="658368" y="317296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3"/>
          <p:cNvSpPr/>
          <p:nvPr/>
        </p:nvSpPr>
        <p:spPr>
          <a:xfrm>
            <a:off x="1243584" y="3172968"/>
            <a:ext cx="7589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Time-Series Predictive Model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3"/>
          <p:cNvSpPr/>
          <p:nvPr/>
        </p:nvSpPr>
        <p:spPr>
          <a:xfrm>
            <a:off x="1243584" y="3429000"/>
            <a:ext cx="7589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BBD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8AABBD"/>
                </a:solidFill>
                <a:latin typeface="Calibri"/>
                <a:ea typeface="Calibri"/>
                <a:cs typeface="Calibri"/>
                <a:sym typeface="Calibri"/>
              </a:rPr>
              <a:t>LightGBM  ·  R² 0.919  ·  MAE 0.924  ·  18% improvement over naive baseline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3"/>
          <p:cNvSpPr/>
          <p:nvPr/>
        </p:nvSpPr>
        <p:spPr>
          <a:xfrm>
            <a:off x="658368" y="3922776"/>
            <a:ext cx="457200" cy="457200"/>
          </a:xfrm>
          <a:prstGeom prst="rect">
            <a:avLst/>
          </a:prstGeom>
          <a:solidFill>
            <a:srgbClr val="D94F43"/>
          </a:solidFill>
          <a:ln cap="flat" cmpd="sng" w="12700">
            <a:solidFill>
              <a:srgbClr val="D94F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23"/>
          <p:cNvSpPr/>
          <p:nvPr/>
        </p:nvSpPr>
        <p:spPr>
          <a:xfrm>
            <a:off x="658368" y="392277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3"/>
          <p:cNvSpPr/>
          <p:nvPr/>
        </p:nvSpPr>
        <p:spPr>
          <a:xfrm>
            <a:off x="1243584" y="3922776"/>
            <a:ext cx="7589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5-Segment Customer Map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3"/>
          <p:cNvSpPr/>
          <p:nvPr/>
        </p:nvSpPr>
        <p:spPr>
          <a:xfrm>
            <a:off x="1243584" y="4178808"/>
            <a:ext cx="7589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BBD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8AABBD"/>
                </a:solidFill>
                <a:latin typeface="Calibri"/>
                <a:ea typeface="Calibri"/>
                <a:cs typeface="Calibri"/>
                <a:sym typeface="Calibri"/>
              </a:rPr>
              <a:t>Budget Casual · High-Value Infrequent · Engaged Regular · Active Core · Power Users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3"/>
          <p:cNvSpPr/>
          <p:nvPr/>
        </p:nvSpPr>
        <p:spPr>
          <a:xfrm>
            <a:off x="0" y="4882896"/>
            <a:ext cx="9144000" cy="260604"/>
          </a:xfrm>
          <a:prstGeom prst="rect">
            <a:avLst/>
          </a:prstGeom>
          <a:solidFill>
            <a:srgbClr val="1A6FA8"/>
          </a:solidFill>
          <a:ln cap="flat" cmpd="sng" w="12700">
            <a:solidFill>
              <a:srgbClr val="1A6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